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7132320" y="1051560"/>
            <a:ext cx="4754880" cy="4754880"/>
          </a:xfrm>
          <a:prstGeom prst="ellipse">
            <a:avLst/>
          </a:prstGeom>
          <a:ln w="15875">
            <a:solidFill>
              <a:srgbClr val="0D9488">
                <a:alpha val="30000"/>
              </a:srgbClr>
            </a:solidFill>
            <a:prstDash val="solid"/>
          </a:ln>
        </p:spPr>
      </p:sp>
      <p:sp>
        <p:nvSpPr>
          <p:cNvPr id="3" name="Shape 1"/>
          <p:cNvSpPr/>
          <p:nvPr/>
        </p:nvSpPr>
        <p:spPr>
          <a:xfrm>
            <a:off x="7818120" y="1737360"/>
            <a:ext cx="3383280" cy="3383280"/>
          </a:xfrm>
          <a:prstGeom prst="ellipse">
            <a:avLst/>
          </a:prstGeom>
          <a:ln w="15875">
            <a:solidFill>
              <a:srgbClr val="0D9488">
                <a:alpha val="55000"/>
              </a:srgbClr>
            </a:solidFill>
            <a:prstDash val="solid"/>
          </a:ln>
        </p:spPr>
      </p:sp>
      <p:sp>
        <p:nvSpPr>
          <p:cNvPr id="4" name="Shape 2"/>
          <p:cNvSpPr/>
          <p:nvPr/>
        </p:nvSpPr>
        <p:spPr>
          <a:xfrm>
            <a:off x="8458200" y="2377440"/>
            <a:ext cx="2103120" cy="2103120"/>
          </a:xfrm>
          <a:prstGeom prst="ellipse">
            <a:avLst/>
          </a:prstGeom>
          <a:ln w="15875">
            <a:solidFill>
              <a:srgbClr val="0D9488">
                <a:alpha val="80000"/>
              </a:srgbClr>
            </a:solidFill>
            <a:prstDash val="solid"/>
          </a:ln>
        </p:spPr>
      </p:sp>
      <p:sp>
        <p:nvSpPr>
          <p:cNvPr id="5" name="Shape 3"/>
          <p:cNvSpPr/>
          <p:nvPr/>
        </p:nvSpPr>
        <p:spPr>
          <a:xfrm>
            <a:off x="9363456" y="3282696"/>
            <a:ext cx="292608" cy="292608"/>
          </a:xfrm>
          <a:prstGeom prst="ellipse">
            <a:avLst/>
          </a:prstGeom>
          <a:solidFill>
            <a:srgbClr val="5EEAD4"/>
          </a:solidFill>
          <a:ln/>
        </p:spPr>
      </p:sp>
      <p:sp>
        <p:nvSpPr>
          <p:cNvPr id="6" name="Text 4"/>
          <p:cNvSpPr/>
          <p:nvPr/>
        </p:nvSpPr>
        <p:spPr>
          <a:xfrm>
            <a:off x="640080" y="1371600"/>
            <a:ext cx="7315200" cy="365760"/>
          </a:xfrm>
          <a:prstGeom prst="rect">
            <a:avLst/>
          </a:prstGeom>
          <a:noFill/>
          <a:ln/>
        </p:spPr>
        <p:txBody>
          <a:bodyPr wrap="square" lIns="0" tIns="0" rIns="0" bIns="0" rtlCol="0" anchor="ctr"/>
          <a:lstStyle/>
          <a:p>
            <a:pPr indent="0" marL="0">
              <a:buNone/>
            </a:pPr>
            <a:r>
              <a:rPr lang="en-US" sz="1400" b="1" spc="400" kern="0" dirty="0">
                <a:solidFill>
                  <a:srgbClr val="5EEAD4"/>
                </a:solidFill>
                <a:latin typeface="Calibri" pitchFamily="34" charset="0"/>
                <a:ea typeface="Calibri" pitchFamily="34" charset="-122"/>
                <a:cs typeface="Calibri" pitchFamily="34" charset="-120"/>
              </a:rPr>
              <a:t>INTERNAL COMPASS</a:t>
            </a:r>
            <a:endParaRPr lang="en-US" sz="1400" dirty="0"/>
          </a:p>
        </p:txBody>
      </p:sp>
      <p:sp>
        <p:nvSpPr>
          <p:cNvPr id="7" name="Text 5"/>
          <p:cNvSpPr/>
          <p:nvPr/>
        </p:nvSpPr>
        <p:spPr>
          <a:xfrm>
            <a:off x="603504" y="1828800"/>
            <a:ext cx="8229600" cy="1920240"/>
          </a:xfrm>
          <a:prstGeom prst="rect">
            <a:avLst/>
          </a:prstGeom>
          <a:noFill/>
          <a:ln/>
        </p:spPr>
        <p:txBody>
          <a:bodyPr wrap="square" lIns="0" tIns="0" rIns="0" bIns="0" rtlCol="0" anchor="ctr"/>
          <a:lstStyle/>
          <a:p>
            <a:pPr indent="0" marL="0">
              <a:lnSpc>
                <a:spcPct val="95000"/>
              </a:lnSpc>
              <a:buNone/>
            </a:pPr>
            <a:r>
              <a:rPr lang="en-US" sz="6000" b="1" dirty="0">
                <a:solidFill>
                  <a:srgbClr val="FFFFFF"/>
                </a:solidFill>
                <a:latin typeface="Georgia" pitchFamily="34" charset="0"/>
                <a:ea typeface="Georgia" pitchFamily="34" charset="-122"/>
                <a:cs typeface="Georgia" pitchFamily="34" charset="-120"/>
              </a:rPr>
              <a:t>AgentProof</a:t>
            </a:r>
            <a:endParaRPr lang="en-US" sz="6000" dirty="0"/>
          </a:p>
          <a:p>
            <a:pPr indent="0" marL="0">
              <a:lnSpc>
                <a:spcPct val="95000"/>
              </a:lnSpc>
              <a:buNone/>
            </a:pPr>
            <a:r>
              <a:rPr lang="en-US" sz="6000" b="1" dirty="0">
                <a:solidFill>
                  <a:srgbClr val="5EEAD4"/>
                </a:solidFill>
                <a:latin typeface="Georgia" pitchFamily="34" charset="0"/>
                <a:ea typeface="Georgia" pitchFamily="34" charset="-122"/>
                <a:cs typeface="Georgia" pitchFamily="34" charset="-120"/>
              </a:rPr>
              <a:t>North Star</a:t>
            </a:r>
            <a:endParaRPr lang="en-US" sz="6000" dirty="0"/>
          </a:p>
        </p:txBody>
      </p:sp>
      <p:sp>
        <p:nvSpPr>
          <p:cNvPr id="8" name="Text 6"/>
          <p:cNvSpPr/>
          <p:nvPr/>
        </p:nvSpPr>
        <p:spPr>
          <a:xfrm>
            <a:off x="640080" y="3977640"/>
            <a:ext cx="7863840" cy="548640"/>
          </a:xfrm>
          <a:prstGeom prst="rect">
            <a:avLst/>
          </a:prstGeom>
          <a:noFill/>
          <a:ln/>
        </p:spPr>
        <p:txBody>
          <a:bodyPr wrap="square" lIns="0" tIns="0" rIns="0" bIns="0" rtlCol="0" anchor="ctr"/>
          <a:lstStyle/>
          <a:p>
            <a:pPr indent="0" marL="0">
              <a:buNone/>
            </a:pPr>
            <a:r>
              <a:rPr lang="en-US" sz="2200" i="1" dirty="0">
                <a:solidFill>
                  <a:srgbClr val="CBD5E1"/>
                </a:solidFill>
                <a:latin typeface="Calibri" pitchFamily="34" charset="0"/>
                <a:ea typeface="Calibri" pitchFamily="34" charset="-122"/>
                <a:cs typeface="Calibri" pitchFamily="34" charset="-120"/>
              </a:rPr>
              <a:t>Make AI agents safe to put to work.</a:t>
            </a:r>
            <a:endParaRPr lang="en-US" sz="2200" dirty="0"/>
          </a:p>
        </p:txBody>
      </p:sp>
      <p:sp>
        <p:nvSpPr>
          <p:cNvPr id="9" name="Text 7"/>
          <p:cNvSpPr/>
          <p:nvPr/>
        </p:nvSpPr>
        <p:spPr>
          <a:xfrm>
            <a:off x="640080" y="6126480"/>
            <a:ext cx="8229600" cy="365760"/>
          </a:xfrm>
          <a:prstGeom prst="rect">
            <a:avLst/>
          </a:prstGeom>
          <a:noFill/>
          <a:ln/>
        </p:spPr>
        <p:txBody>
          <a:bodyPr wrap="square" lIns="0" tIns="0" rIns="0" bIns="0" rtlCol="0" anchor="ctr"/>
          <a:lstStyle/>
          <a:p>
            <a:pPr indent="0" marL="0">
              <a:buNone/>
            </a:pPr>
            <a:r>
              <a:rPr lang="en-US" sz="1300" spc="100" kern="0" dirty="0">
                <a:solidFill>
                  <a:srgbClr val="94A3B8"/>
                </a:solidFill>
                <a:latin typeface="Calibri" pitchFamily="34" charset="0"/>
                <a:ea typeface="Calibri" pitchFamily="34" charset="-122"/>
                <a:cs typeface="Calibri" pitchFamily="34" charset="-120"/>
              </a:rPr>
              <a:t>12-month horizon  ·  founding team  ·  June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437"/>
        </a:solidFill>
      </p:bgPr>
    </p:bg>
    <p:spTree>
      <p:nvGrpSpPr>
        <p:cNvPr id="1" name=""/>
        <p:cNvGrpSpPr/>
        <p:nvPr/>
      </p:nvGrpSpPr>
      <p:grpSpPr>
        <a:xfrm>
          <a:off x="0" y="0"/>
          <a:ext cx="0" cy="0"/>
          <a:chOff x="0" y="0"/>
          <a:chExt cx="0" cy="0"/>
        </a:xfrm>
      </p:grpSpPr>
      <p:sp>
        <p:nvSpPr>
          <p:cNvPr id="2" name="Text 0"/>
          <p:cNvSpPr/>
          <p:nvPr/>
        </p:nvSpPr>
        <p:spPr>
          <a:xfrm>
            <a:off x="640080" y="777240"/>
            <a:ext cx="7315200" cy="274320"/>
          </a:xfrm>
          <a:prstGeom prst="rect">
            <a:avLst/>
          </a:prstGeom>
          <a:noFill/>
          <a:ln/>
        </p:spPr>
        <p:txBody>
          <a:bodyPr wrap="square" lIns="0" tIns="0" rIns="0" bIns="0" rtlCol="0" anchor="ctr"/>
          <a:lstStyle/>
          <a:p>
            <a:pPr indent="0" marL="0">
              <a:buNone/>
            </a:pPr>
            <a:r>
              <a:rPr lang="en-US" sz="1200" b="1" spc="300" kern="0" dirty="0">
                <a:solidFill>
                  <a:srgbClr val="5EEAD4"/>
                </a:solidFill>
                <a:latin typeface="Calibri" pitchFamily="34" charset="0"/>
                <a:ea typeface="Calibri" pitchFamily="34" charset="-122"/>
                <a:cs typeface="Calibri" pitchFamily="34" charset="-120"/>
              </a:rPr>
              <a:t>THE NORTH STAR</a:t>
            </a:r>
            <a:endParaRPr lang="en-US" sz="1200" dirty="0"/>
          </a:p>
        </p:txBody>
      </p:sp>
      <p:sp>
        <p:nvSpPr>
          <p:cNvPr id="3" name="Text 1"/>
          <p:cNvSpPr/>
          <p:nvPr/>
        </p:nvSpPr>
        <p:spPr>
          <a:xfrm>
            <a:off x="640080" y="1371600"/>
            <a:ext cx="10881360" cy="2743200"/>
          </a:xfrm>
          <a:prstGeom prst="rect">
            <a:avLst/>
          </a:prstGeom>
          <a:noFill/>
          <a:ln/>
        </p:spPr>
        <p:txBody>
          <a:bodyPr wrap="square" lIns="0" tIns="0" rIns="0" bIns="0" rtlCol="0" anchor="ctr"/>
          <a:lstStyle/>
          <a:p>
            <a:pPr indent="0" marL="0">
              <a:lnSpc>
                <a:spcPct val="108000"/>
              </a:lnSpc>
              <a:buNone/>
            </a:pPr>
            <a:r>
              <a:rPr lang="en-US" sz="3300" b="1" dirty="0">
                <a:solidFill>
                  <a:srgbClr val="FFFFFF"/>
                </a:solidFill>
                <a:latin typeface="Georgia" pitchFamily="34" charset="0"/>
                <a:ea typeface="Georgia" pitchFamily="34" charset="-122"/>
                <a:cs typeface="Georgia" pitchFamily="34" charset="-120"/>
              </a:rPr>
              <a:t>Make AI agents safe to put to work — by making every action they take </a:t>
            </a:r>
            <a:pPr indent="0" marL="0">
              <a:lnSpc>
                <a:spcPct val="108000"/>
              </a:lnSpc>
              <a:buNone/>
            </a:pPr>
            <a:r>
              <a:rPr lang="en-US" sz="3300" b="1" dirty="0">
                <a:solidFill>
                  <a:srgbClr val="5EEAD4"/>
                </a:solidFill>
                <a:latin typeface="Georgia" pitchFamily="34" charset="0"/>
                <a:ea typeface="Georgia" pitchFamily="34" charset="-122"/>
                <a:cs typeface="Georgia" pitchFamily="34" charset="-120"/>
              </a:rPr>
              <a:t>visible, attributable, and controllable</a:t>
            </a:r>
            <a:pPr indent="0" marL="0">
              <a:lnSpc>
                <a:spcPct val="108000"/>
              </a:lnSpc>
              <a:buNone/>
            </a:pPr>
            <a:r>
              <a:rPr lang="en-US" sz="3300" b="1" dirty="0">
                <a:solidFill>
                  <a:srgbClr val="FFFFFF"/>
                </a:solidFill>
                <a:latin typeface="Georgia" pitchFamily="34" charset="0"/>
                <a:ea typeface="Georgia" pitchFamily="34" charset="-122"/>
                <a:cs typeface="Georgia" pitchFamily="34" charset="-120"/>
              </a:rPr>
              <a:t>, without forcing anyone to hand-write a single policy.</a:t>
            </a:r>
            <a:endParaRPr lang="en-US" sz="3300" dirty="0"/>
          </a:p>
        </p:txBody>
      </p:sp>
      <p:sp>
        <p:nvSpPr>
          <p:cNvPr id="4" name="Text 2"/>
          <p:cNvSpPr/>
          <p:nvPr/>
        </p:nvSpPr>
        <p:spPr>
          <a:xfrm>
            <a:off x="640080" y="4572000"/>
            <a:ext cx="10424160" cy="1280160"/>
          </a:xfrm>
          <a:prstGeom prst="rect">
            <a:avLst/>
          </a:prstGeom>
          <a:noFill/>
          <a:ln/>
        </p:spPr>
        <p:txBody>
          <a:bodyPr wrap="square" lIns="0" tIns="0" rIns="0" bIns="0" rtlCol="0" anchor="ctr"/>
          <a:lstStyle/>
          <a:p>
            <a:pPr indent="0" marL="0">
              <a:lnSpc>
                <a:spcPct val="110000"/>
              </a:lnSpc>
              <a:buNone/>
            </a:pPr>
            <a:r>
              <a:rPr lang="en-US" sz="1700" dirty="0">
                <a:solidFill>
                  <a:srgbClr val="CBD5E1"/>
                </a:solidFill>
                <a:latin typeface="Calibri" pitchFamily="34" charset="0"/>
                <a:ea typeface="Calibri" pitchFamily="34" charset="-122"/>
                <a:cs typeface="Calibri" pitchFamily="34" charset="-120"/>
              </a:rPr>
              <a:t>The blocker to agentic work isn't model quality — it's trust. No serious org lets an agent act on its systems as a black box. We turn that black box into something a human can see, understand, and stop.</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Why now</a:t>
            </a:r>
            <a:endParaRPr lang="en-US" sz="3000" dirty="0"/>
          </a:p>
        </p:txBody>
      </p:sp>
      <p:sp>
        <p:nvSpPr>
          <p:cNvPr id="4" name="Shape 2"/>
          <p:cNvSpPr/>
          <p:nvPr/>
        </p:nvSpPr>
        <p:spPr>
          <a:xfrm>
            <a:off x="548640" y="1417320"/>
            <a:ext cx="11064240" cy="1051560"/>
          </a:xfrm>
          <a:prstGeom prst="roundRect">
            <a:avLst>
              <a:gd name="adj" fmla="val 6957"/>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5" name="Shape 3"/>
          <p:cNvSpPr/>
          <p:nvPr/>
        </p:nvSpPr>
        <p:spPr>
          <a:xfrm>
            <a:off x="868680" y="1691640"/>
            <a:ext cx="502920" cy="502920"/>
          </a:xfrm>
          <a:prstGeom prst="ellipse">
            <a:avLst/>
          </a:prstGeom>
          <a:solidFill>
            <a:srgbClr val="0D9488"/>
          </a:solidFill>
          <a:ln/>
        </p:spPr>
      </p:sp>
      <p:sp>
        <p:nvSpPr>
          <p:cNvPr id="6" name="Text 4"/>
          <p:cNvSpPr/>
          <p:nvPr/>
        </p:nvSpPr>
        <p:spPr>
          <a:xfrm>
            <a:off x="868680" y="16916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645920" y="1545336"/>
            <a:ext cx="9692640" cy="41148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Agents are crossing into real work</a:t>
            </a:r>
            <a:endParaRPr lang="en-US" sz="1800" dirty="0"/>
          </a:p>
        </p:txBody>
      </p:sp>
      <p:sp>
        <p:nvSpPr>
          <p:cNvPr id="8" name="Text 6"/>
          <p:cNvSpPr/>
          <p:nvPr/>
        </p:nvSpPr>
        <p:spPr>
          <a:xfrm>
            <a:off x="1645920" y="1947672"/>
            <a:ext cx="9692640" cy="411480"/>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They now touch repos, databases, email, money, and customer data — not demos.</a:t>
            </a:r>
            <a:endParaRPr lang="en-US" sz="1450" dirty="0"/>
          </a:p>
        </p:txBody>
      </p:sp>
      <p:sp>
        <p:nvSpPr>
          <p:cNvPr id="9" name="Shape 7"/>
          <p:cNvSpPr/>
          <p:nvPr/>
        </p:nvSpPr>
        <p:spPr>
          <a:xfrm>
            <a:off x="548640" y="2624328"/>
            <a:ext cx="11064240" cy="1051560"/>
          </a:xfrm>
          <a:prstGeom prst="roundRect">
            <a:avLst>
              <a:gd name="adj" fmla="val 6957"/>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10" name="Shape 8"/>
          <p:cNvSpPr/>
          <p:nvPr/>
        </p:nvSpPr>
        <p:spPr>
          <a:xfrm>
            <a:off x="868680" y="2898648"/>
            <a:ext cx="502920" cy="502920"/>
          </a:xfrm>
          <a:prstGeom prst="ellipse">
            <a:avLst/>
          </a:prstGeom>
          <a:solidFill>
            <a:srgbClr val="0D9488"/>
          </a:solidFill>
          <a:ln/>
        </p:spPr>
      </p:sp>
      <p:sp>
        <p:nvSpPr>
          <p:cNvPr id="11" name="Text 9"/>
          <p:cNvSpPr/>
          <p:nvPr/>
        </p:nvSpPr>
        <p:spPr>
          <a:xfrm>
            <a:off x="868680" y="289864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2" name="Text 10"/>
          <p:cNvSpPr/>
          <p:nvPr/>
        </p:nvSpPr>
        <p:spPr>
          <a:xfrm>
            <a:off x="1645920" y="2752344"/>
            <a:ext cx="9692640" cy="41148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The blocker is governance, not capability</a:t>
            </a:r>
            <a:endParaRPr lang="en-US" sz="1800" dirty="0"/>
          </a:p>
        </p:txBody>
      </p:sp>
      <p:sp>
        <p:nvSpPr>
          <p:cNvPr id="13" name="Text 11"/>
          <p:cNvSpPr/>
          <p:nvPr/>
        </p:nvSpPr>
        <p:spPr>
          <a:xfrm>
            <a:off x="1645920" y="3154680"/>
            <a:ext cx="9692640" cy="411480"/>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Security, platform, and risk teams are the gatekeepers — and have no agent-native tooling.</a:t>
            </a:r>
            <a:endParaRPr lang="en-US" sz="1450" dirty="0"/>
          </a:p>
        </p:txBody>
      </p:sp>
      <p:sp>
        <p:nvSpPr>
          <p:cNvPr id="14" name="Shape 12"/>
          <p:cNvSpPr/>
          <p:nvPr/>
        </p:nvSpPr>
        <p:spPr>
          <a:xfrm>
            <a:off x="548640" y="3831336"/>
            <a:ext cx="11064240" cy="1051560"/>
          </a:xfrm>
          <a:prstGeom prst="roundRect">
            <a:avLst>
              <a:gd name="adj" fmla="val 6957"/>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15" name="Shape 13"/>
          <p:cNvSpPr/>
          <p:nvPr/>
        </p:nvSpPr>
        <p:spPr>
          <a:xfrm>
            <a:off x="868680" y="4105656"/>
            <a:ext cx="502920" cy="502920"/>
          </a:xfrm>
          <a:prstGeom prst="ellipse">
            <a:avLst/>
          </a:prstGeom>
          <a:solidFill>
            <a:srgbClr val="0D9488"/>
          </a:solidFill>
          <a:ln/>
        </p:spPr>
      </p:sp>
      <p:sp>
        <p:nvSpPr>
          <p:cNvPr id="16" name="Text 14"/>
          <p:cNvSpPr/>
          <p:nvPr/>
        </p:nvSpPr>
        <p:spPr>
          <a:xfrm>
            <a:off x="868680" y="410565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7" name="Text 15"/>
          <p:cNvSpPr/>
          <p:nvPr/>
        </p:nvSpPr>
        <p:spPr>
          <a:xfrm>
            <a:off x="1645920" y="3959352"/>
            <a:ext cx="9692640" cy="41148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Existing tools don't fit</a:t>
            </a:r>
            <a:endParaRPr lang="en-US" sz="1800" dirty="0"/>
          </a:p>
        </p:txBody>
      </p:sp>
      <p:sp>
        <p:nvSpPr>
          <p:cNvPr id="18" name="Text 16"/>
          <p:cNvSpPr/>
          <p:nvPr/>
        </p:nvSpPr>
        <p:spPr>
          <a:xfrm>
            <a:off x="1645920" y="4361688"/>
            <a:ext cx="9692640" cy="411480"/>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SIEM/EDR don't grasp agent intent; LLM guardrails only watch prompts, not effects.</a:t>
            </a:r>
            <a:endParaRPr lang="en-US" sz="1450" dirty="0"/>
          </a:p>
        </p:txBody>
      </p:sp>
      <p:sp>
        <p:nvSpPr>
          <p:cNvPr id="19" name="Shape 17"/>
          <p:cNvSpPr/>
          <p:nvPr/>
        </p:nvSpPr>
        <p:spPr>
          <a:xfrm>
            <a:off x="548640" y="5038344"/>
            <a:ext cx="11064240" cy="1051560"/>
          </a:xfrm>
          <a:prstGeom prst="roundRect">
            <a:avLst>
              <a:gd name="adj" fmla="val 6957"/>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20" name="Shape 18"/>
          <p:cNvSpPr/>
          <p:nvPr/>
        </p:nvSpPr>
        <p:spPr>
          <a:xfrm>
            <a:off x="868680" y="5312664"/>
            <a:ext cx="502920" cy="502920"/>
          </a:xfrm>
          <a:prstGeom prst="ellipse">
            <a:avLst/>
          </a:prstGeom>
          <a:solidFill>
            <a:srgbClr val="0D9488"/>
          </a:solidFill>
          <a:ln/>
        </p:spPr>
      </p:sp>
      <p:sp>
        <p:nvSpPr>
          <p:cNvPr id="21" name="Text 19"/>
          <p:cNvSpPr/>
          <p:nvPr/>
        </p:nvSpPr>
        <p:spPr>
          <a:xfrm>
            <a:off x="868680" y="5312664"/>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2" name="Text 20"/>
          <p:cNvSpPr/>
          <p:nvPr/>
        </p:nvSpPr>
        <p:spPr>
          <a:xfrm>
            <a:off x="1645920" y="5166360"/>
            <a:ext cx="9692640" cy="41148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The category is forming right now</a:t>
            </a:r>
            <a:endParaRPr lang="en-US" sz="1800" dirty="0"/>
          </a:p>
        </p:txBody>
      </p:sp>
      <p:sp>
        <p:nvSpPr>
          <p:cNvPr id="23" name="Text 21"/>
          <p:cNvSpPr/>
          <p:nvPr/>
        </p:nvSpPr>
        <p:spPr>
          <a:xfrm>
            <a:off x="1645920" y="5568696"/>
            <a:ext cx="9692640" cy="411480"/>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“Agent control plane” has no clear winner yet. Early + opinionated wins.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Who we serve</a:t>
            </a:r>
            <a:endParaRPr lang="en-US" sz="3000" dirty="0"/>
          </a:p>
        </p:txBody>
      </p:sp>
      <p:sp>
        <p:nvSpPr>
          <p:cNvPr id="4" name="Shape 2"/>
          <p:cNvSpPr/>
          <p:nvPr/>
        </p:nvSpPr>
        <p:spPr>
          <a:xfrm>
            <a:off x="548640" y="1463040"/>
            <a:ext cx="5486400" cy="2286000"/>
          </a:xfrm>
          <a:prstGeom prst="roundRect">
            <a:avLst>
              <a:gd name="adj" fmla="val 3200"/>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5" name="Text 3"/>
          <p:cNvSpPr/>
          <p:nvPr/>
        </p:nvSpPr>
        <p:spPr>
          <a:xfrm>
            <a:off x="868680" y="1691640"/>
            <a:ext cx="73152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PRIMARY — THE BUYER &amp; USER</a:t>
            </a:r>
            <a:endParaRPr lang="en-US" sz="1200" dirty="0"/>
          </a:p>
        </p:txBody>
      </p:sp>
      <p:sp>
        <p:nvSpPr>
          <p:cNvPr id="6" name="Text 4"/>
          <p:cNvSpPr/>
          <p:nvPr/>
        </p:nvSpPr>
        <p:spPr>
          <a:xfrm>
            <a:off x="868680" y="2011680"/>
            <a:ext cx="4846320" cy="640080"/>
          </a:xfrm>
          <a:prstGeom prst="rect">
            <a:avLst/>
          </a:prstGeom>
          <a:noFill/>
          <a:ln/>
        </p:spPr>
        <p:txBody>
          <a:bodyPr wrap="square" lIns="0" tIns="0" rIns="0" bIns="0" rtlCol="0" anchor="ctr"/>
          <a:lstStyle/>
          <a:p>
            <a:pPr indent="0" marL="0">
              <a:buNone/>
            </a:pPr>
            <a:r>
              <a:rPr lang="en-US" sz="1900" b="1" dirty="0">
                <a:solidFill>
                  <a:srgbClr val="0F172A"/>
                </a:solidFill>
                <a:latin typeface="Georgia" pitchFamily="34" charset="0"/>
                <a:ea typeface="Georgia" pitchFamily="34" charset="-122"/>
                <a:cs typeface="Georgia" pitchFamily="34" charset="-120"/>
              </a:rPr>
              <a:t>The team that has to say “yes” to an agent</a:t>
            </a:r>
            <a:endParaRPr lang="en-US" sz="1900" dirty="0"/>
          </a:p>
        </p:txBody>
      </p:sp>
      <p:sp>
        <p:nvSpPr>
          <p:cNvPr id="7" name="Text 5"/>
          <p:cNvSpPr/>
          <p:nvPr/>
        </p:nvSpPr>
        <p:spPr>
          <a:xfrm>
            <a:off x="868680" y="2697480"/>
            <a:ext cx="4846320" cy="914400"/>
          </a:xfrm>
          <a:prstGeom prst="rect">
            <a:avLst/>
          </a:prstGeom>
          <a:noFill/>
          <a:ln/>
        </p:spPr>
        <p:txBody>
          <a:bodyPr wrap="square" lIns="0" tIns="0" rIns="0" bIns="0" rtlCol="0" anchor="ctr"/>
          <a:lstStyle/>
          <a:p>
            <a:pPr indent="0" marL="0">
              <a:lnSpc>
                <a:spcPct val="108000"/>
              </a:lnSpc>
              <a:buNone/>
            </a:pPr>
            <a:r>
              <a:rPr lang="en-US" sz="1450" dirty="0">
                <a:solidFill>
                  <a:srgbClr val="64748B"/>
                </a:solidFill>
                <a:latin typeface="Calibri" pitchFamily="34" charset="0"/>
                <a:ea typeface="Calibri" pitchFamily="34" charset="-122"/>
                <a:cs typeface="Calibri" pitchFamily="34" charset="-120"/>
              </a:rPr>
              <a:t>Security, platform, and engineering leads who want to enable agents without betting the company on blind trust.</a:t>
            </a:r>
            <a:endParaRPr lang="en-US" sz="1450" dirty="0"/>
          </a:p>
        </p:txBody>
      </p:sp>
      <p:sp>
        <p:nvSpPr>
          <p:cNvPr id="8" name="Shape 6"/>
          <p:cNvSpPr/>
          <p:nvPr/>
        </p:nvSpPr>
        <p:spPr>
          <a:xfrm>
            <a:off x="6217920" y="1463040"/>
            <a:ext cx="5394960" cy="2286000"/>
          </a:xfrm>
          <a:prstGeom prst="roundRect">
            <a:avLst>
              <a:gd name="adj" fmla="val 3200"/>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9" name="Text 7"/>
          <p:cNvSpPr/>
          <p:nvPr/>
        </p:nvSpPr>
        <p:spPr>
          <a:xfrm>
            <a:off x="6537960" y="1691640"/>
            <a:ext cx="7315200" cy="274320"/>
          </a:xfrm>
          <a:prstGeom prst="rect">
            <a:avLst/>
          </a:prstGeom>
          <a:noFill/>
          <a:ln/>
        </p:spPr>
        <p:txBody>
          <a:bodyPr wrap="square" lIns="0" tIns="0" rIns="0" bIns="0" rtlCol="0" anchor="ctr"/>
          <a:lstStyle/>
          <a:p>
            <a:pPr indent="0" marL="0">
              <a:buNone/>
            </a:pPr>
            <a:r>
              <a:rPr lang="en-US" sz="1200" b="1" spc="300" kern="0" dirty="0">
                <a:solidFill>
                  <a:srgbClr val="14B8A6"/>
                </a:solidFill>
                <a:latin typeface="Calibri" pitchFamily="34" charset="0"/>
                <a:ea typeface="Calibri" pitchFamily="34" charset="-122"/>
                <a:cs typeface="Calibri" pitchFamily="34" charset="-120"/>
              </a:rPr>
              <a:t>SECONDARY — BENEFICIARY</a:t>
            </a:r>
            <a:endParaRPr lang="en-US" sz="1200" dirty="0"/>
          </a:p>
        </p:txBody>
      </p:sp>
      <p:sp>
        <p:nvSpPr>
          <p:cNvPr id="10" name="Text 8"/>
          <p:cNvSpPr/>
          <p:nvPr/>
        </p:nvSpPr>
        <p:spPr>
          <a:xfrm>
            <a:off x="6537960" y="2011680"/>
            <a:ext cx="4754880" cy="457200"/>
          </a:xfrm>
          <a:prstGeom prst="rect">
            <a:avLst/>
          </a:prstGeom>
          <a:noFill/>
          <a:ln/>
        </p:spPr>
        <p:txBody>
          <a:bodyPr wrap="square" lIns="0" tIns="0" rIns="0" bIns="0" rtlCol="0" anchor="ctr"/>
          <a:lstStyle/>
          <a:p>
            <a:pPr indent="0" marL="0">
              <a:buNone/>
            </a:pPr>
            <a:r>
              <a:rPr lang="en-US" sz="1900" b="1" dirty="0">
                <a:solidFill>
                  <a:srgbClr val="0F172A"/>
                </a:solidFill>
                <a:latin typeface="Georgia" pitchFamily="34" charset="0"/>
                <a:ea typeface="Georgia" pitchFamily="34" charset="-122"/>
                <a:cs typeface="Georgia" pitchFamily="34" charset="-120"/>
              </a:rPr>
              <a:t>The agent builder</a:t>
            </a:r>
            <a:endParaRPr lang="en-US" sz="1900" dirty="0"/>
          </a:p>
        </p:txBody>
      </p:sp>
      <p:sp>
        <p:nvSpPr>
          <p:cNvPr id="11" name="Text 9"/>
          <p:cNvSpPr/>
          <p:nvPr/>
        </p:nvSpPr>
        <p:spPr>
          <a:xfrm>
            <a:off x="6537960" y="2697480"/>
            <a:ext cx="4754880" cy="914400"/>
          </a:xfrm>
          <a:prstGeom prst="rect">
            <a:avLst/>
          </a:prstGeom>
          <a:noFill/>
          <a:ln/>
        </p:spPr>
        <p:txBody>
          <a:bodyPr wrap="square" lIns="0" tIns="0" rIns="0" bIns="0" rtlCol="0" anchor="ctr"/>
          <a:lstStyle/>
          <a:p>
            <a:pPr indent="0" marL="0">
              <a:lnSpc>
                <a:spcPct val="108000"/>
              </a:lnSpc>
              <a:buNone/>
            </a:pPr>
            <a:r>
              <a:rPr lang="en-US" sz="1450" dirty="0">
                <a:solidFill>
                  <a:srgbClr val="64748B"/>
                </a:solidFill>
                <a:latin typeface="Calibri" pitchFamily="34" charset="0"/>
                <a:ea typeface="Calibri" pitchFamily="34" charset="-122"/>
                <a:cs typeface="Calibri" pitchFamily="34" charset="-120"/>
              </a:rPr>
              <a:t>Gets a faster path to “approved for production,” because the governance story already exists.</a:t>
            </a:r>
            <a:endParaRPr lang="en-US" sz="1450" dirty="0"/>
          </a:p>
        </p:txBody>
      </p:sp>
      <p:sp>
        <p:nvSpPr>
          <p:cNvPr id="12" name="Shape 10"/>
          <p:cNvSpPr/>
          <p:nvPr/>
        </p:nvSpPr>
        <p:spPr>
          <a:xfrm>
            <a:off x="548640" y="3977640"/>
            <a:ext cx="11064240" cy="2148840"/>
          </a:xfrm>
          <a:prstGeom prst="roundRect">
            <a:avLst>
              <a:gd name="adj" fmla="val 3404"/>
            </a:avLst>
          </a:prstGeom>
          <a:solidFill>
            <a:srgbClr val="0B1437"/>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13" name="Text 11"/>
          <p:cNvSpPr/>
          <p:nvPr/>
        </p:nvSpPr>
        <p:spPr>
          <a:xfrm>
            <a:off x="868680" y="4224528"/>
            <a:ext cx="10058400" cy="320040"/>
          </a:xfrm>
          <a:prstGeom prst="rect">
            <a:avLst/>
          </a:prstGeom>
          <a:noFill/>
          <a:ln/>
        </p:spPr>
        <p:txBody>
          <a:bodyPr wrap="square" lIns="0" tIns="0" rIns="0" bIns="0" rtlCol="0" anchor="ctr"/>
          <a:lstStyle/>
          <a:p>
            <a:pPr indent="0" marL="0">
              <a:buNone/>
            </a:pPr>
            <a:r>
              <a:rPr lang="en-US" sz="1200" b="1" spc="300" kern="0" dirty="0">
                <a:solidFill>
                  <a:srgbClr val="5EEAD4"/>
                </a:solidFill>
                <a:latin typeface="Calibri" pitchFamily="34" charset="0"/>
                <a:ea typeface="Calibri" pitchFamily="34" charset="-122"/>
                <a:cs typeface="Calibri" pitchFamily="34" charset="-120"/>
              </a:rPr>
              <a:t>THEIR JOB-TO-BE-DONE</a:t>
            </a:r>
            <a:endParaRPr lang="en-US" sz="1200" dirty="0"/>
          </a:p>
        </p:txBody>
      </p:sp>
      <p:sp>
        <p:nvSpPr>
          <p:cNvPr id="14" name="Text 12"/>
          <p:cNvSpPr/>
          <p:nvPr/>
        </p:nvSpPr>
        <p:spPr>
          <a:xfrm>
            <a:off x="868680" y="4617720"/>
            <a:ext cx="10424160" cy="1280160"/>
          </a:xfrm>
          <a:prstGeom prst="rect">
            <a:avLst/>
          </a:prstGeom>
          <a:noFill/>
          <a:ln/>
        </p:spPr>
        <p:txBody>
          <a:bodyPr wrap="square" lIns="0" tIns="0" rIns="0" bIns="0" rtlCol="0" anchor="ctr"/>
          <a:lstStyle/>
          <a:p>
            <a:pPr indent="0" marL="0">
              <a:lnSpc>
                <a:spcPct val="110000"/>
              </a:lnSpc>
              <a:buNone/>
            </a:pPr>
            <a:r>
              <a:rPr lang="en-US" sz="2100" i="1" dirty="0">
                <a:solidFill>
                  <a:srgbClr val="FFFFFF"/>
                </a:solidFill>
                <a:latin typeface="Georgia" pitchFamily="34" charset="0"/>
                <a:ea typeface="Georgia" pitchFamily="34" charset="-122"/>
                <a:cs typeface="Georgia" pitchFamily="34" charset="-120"/>
              </a:rPr>
              <a:t>“Let me adopt this agent and still be able to answer, at any moment, what it did and why — and stop it when it's about to do something I wouldn't allow.”</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Audit the boundary, not the brain</a:t>
            </a:r>
            <a:endParaRPr lang="en-US" sz="3000" dirty="0"/>
          </a:p>
        </p:txBody>
      </p:sp>
      <p:sp>
        <p:nvSpPr>
          <p:cNvPr id="4" name="Text 2"/>
          <p:cNvSpPr/>
          <p:nvPr/>
        </p:nvSpPr>
        <p:spPr>
          <a:xfrm>
            <a:off x="548640" y="1234440"/>
            <a:ext cx="11064240" cy="640080"/>
          </a:xfrm>
          <a:prstGeom prst="rect">
            <a:avLst/>
          </a:prstGeom>
          <a:noFill/>
          <a:ln/>
        </p:spPr>
        <p:txBody>
          <a:bodyPr wrap="square" lIns="0" tIns="0" rIns="0" bIns="0" rtlCol="0" anchor="ctr"/>
          <a:lstStyle/>
          <a:p>
            <a:pPr indent="0" marL="0">
              <a:lnSpc>
                <a:spcPct val="105000"/>
              </a:lnSpc>
              <a:buNone/>
            </a:pPr>
            <a:r>
              <a:rPr lang="en-US" sz="1550" dirty="0">
                <a:solidFill>
                  <a:srgbClr val="64748B"/>
                </a:solidFill>
                <a:latin typeface="Calibri" pitchFamily="34" charset="0"/>
                <a:ea typeface="Calibri" pitchFamily="34" charset="-122"/>
                <a:cs typeface="Calibri" pitchFamily="34" charset="-120"/>
              </a:rPr>
              <a:t>We don't need every internal thought the model had — we need every action that crosses into a real system, captured at one place that records AND controls.</a:t>
            </a:r>
            <a:endParaRPr lang="en-US" sz="1550" dirty="0"/>
          </a:p>
        </p:txBody>
      </p:sp>
      <p:sp>
        <p:nvSpPr>
          <p:cNvPr id="5" name="Shape 3"/>
          <p:cNvSpPr/>
          <p:nvPr/>
        </p:nvSpPr>
        <p:spPr>
          <a:xfrm>
            <a:off x="548640" y="2057400"/>
            <a:ext cx="3429000" cy="2148840"/>
          </a:xfrm>
          <a:prstGeom prst="roundRect">
            <a:avLst>
              <a:gd name="adj" fmla="val 3404"/>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6" name="Shape 4"/>
          <p:cNvSpPr/>
          <p:nvPr/>
        </p:nvSpPr>
        <p:spPr>
          <a:xfrm>
            <a:off x="548640" y="2057400"/>
            <a:ext cx="3429000" cy="109728"/>
          </a:xfrm>
          <a:prstGeom prst="rect">
            <a:avLst/>
          </a:prstGeom>
          <a:solidFill>
            <a:srgbClr val="0D9488"/>
          </a:solidFill>
          <a:ln/>
        </p:spPr>
      </p:sp>
      <p:sp>
        <p:nvSpPr>
          <p:cNvPr id="7" name="Text 5"/>
          <p:cNvSpPr/>
          <p:nvPr/>
        </p:nvSpPr>
        <p:spPr>
          <a:xfrm>
            <a:off x="822960" y="2286000"/>
            <a:ext cx="2926080" cy="502920"/>
          </a:xfrm>
          <a:prstGeom prst="rect">
            <a:avLst/>
          </a:prstGeom>
          <a:noFill/>
          <a:ln/>
        </p:spPr>
        <p:txBody>
          <a:bodyPr wrap="square" lIns="0" tIns="0" rIns="0" bIns="0" rtlCol="0" anchor="ctr"/>
          <a:lstStyle/>
          <a:p>
            <a:pPr indent="0" marL="0">
              <a:buNone/>
            </a:pPr>
            <a:r>
              <a:rPr lang="en-US" sz="2200" b="1" dirty="0">
                <a:solidFill>
                  <a:srgbClr val="0F172A"/>
                </a:solidFill>
                <a:latin typeface="Georgia" pitchFamily="34" charset="0"/>
                <a:ea typeface="Georgia" pitchFamily="34" charset="-122"/>
                <a:cs typeface="Georgia" pitchFamily="34" charset="-120"/>
              </a:rPr>
              <a:t>Decision</a:t>
            </a:r>
            <a:endParaRPr lang="en-US" sz="2200" dirty="0"/>
          </a:p>
        </p:txBody>
      </p:sp>
      <p:sp>
        <p:nvSpPr>
          <p:cNvPr id="8" name="Text 6"/>
          <p:cNvSpPr/>
          <p:nvPr/>
        </p:nvSpPr>
        <p:spPr>
          <a:xfrm>
            <a:off x="822960" y="2834640"/>
            <a:ext cx="2926080" cy="36576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WHY it acted</a:t>
            </a:r>
            <a:endParaRPr lang="en-US" sz="1400" dirty="0"/>
          </a:p>
        </p:txBody>
      </p:sp>
      <p:sp>
        <p:nvSpPr>
          <p:cNvPr id="9" name="Text 7"/>
          <p:cNvSpPr/>
          <p:nvPr/>
        </p:nvSpPr>
        <p:spPr>
          <a:xfrm>
            <a:off x="822960" y="3246120"/>
            <a:ext cx="2926080" cy="777240"/>
          </a:xfrm>
          <a:prstGeom prst="rect">
            <a:avLst/>
          </a:prstGeom>
          <a:noFill/>
          <a:ln/>
        </p:spPr>
        <p:txBody>
          <a:bodyPr wrap="square" lIns="0" tIns="0" rIns="0" bIns="0" rtlCol="0" anchor="ctr"/>
          <a:lstStyle/>
          <a:p>
            <a:pPr indent="0" marL="0">
              <a:lnSpc>
                <a:spcPct val="105000"/>
              </a:lnSpc>
              <a:buNone/>
            </a:pPr>
            <a:r>
              <a:rPr lang="en-US" sz="1400" dirty="0">
                <a:solidFill>
                  <a:srgbClr val="64748B"/>
                </a:solidFill>
                <a:latin typeface="Calibri" pitchFamily="34" charset="0"/>
                <a:ea typeface="Calibri" pitchFamily="34" charset="-122"/>
                <a:cs typeface="Calibri" pitchFamily="34" charset="-120"/>
              </a:rPr>
              <a:t>the model's request / reasoning</a:t>
            </a:r>
            <a:endParaRPr lang="en-US" sz="1400" dirty="0"/>
          </a:p>
        </p:txBody>
      </p:sp>
      <p:sp>
        <p:nvSpPr>
          <p:cNvPr id="10" name="Shape 8"/>
          <p:cNvSpPr/>
          <p:nvPr/>
        </p:nvSpPr>
        <p:spPr>
          <a:xfrm>
            <a:off x="4251960" y="2057400"/>
            <a:ext cx="3429000" cy="2148840"/>
          </a:xfrm>
          <a:prstGeom prst="roundRect">
            <a:avLst>
              <a:gd name="adj" fmla="val 3404"/>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11" name="Shape 9"/>
          <p:cNvSpPr/>
          <p:nvPr/>
        </p:nvSpPr>
        <p:spPr>
          <a:xfrm>
            <a:off x="4251960" y="2057400"/>
            <a:ext cx="3429000" cy="109728"/>
          </a:xfrm>
          <a:prstGeom prst="rect">
            <a:avLst/>
          </a:prstGeom>
          <a:solidFill>
            <a:srgbClr val="14B8A6"/>
          </a:solidFill>
          <a:ln/>
        </p:spPr>
      </p:sp>
      <p:sp>
        <p:nvSpPr>
          <p:cNvPr id="12" name="Text 10"/>
          <p:cNvSpPr/>
          <p:nvPr/>
        </p:nvSpPr>
        <p:spPr>
          <a:xfrm>
            <a:off x="4526280" y="2286000"/>
            <a:ext cx="2926080" cy="502920"/>
          </a:xfrm>
          <a:prstGeom prst="rect">
            <a:avLst/>
          </a:prstGeom>
          <a:noFill/>
          <a:ln/>
        </p:spPr>
        <p:txBody>
          <a:bodyPr wrap="square" lIns="0" tIns="0" rIns="0" bIns="0" rtlCol="0" anchor="ctr"/>
          <a:lstStyle/>
          <a:p>
            <a:pPr indent="0" marL="0">
              <a:buNone/>
            </a:pPr>
            <a:r>
              <a:rPr lang="en-US" sz="2200" b="1" dirty="0">
                <a:solidFill>
                  <a:srgbClr val="0F172A"/>
                </a:solidFill>
                <a:latin typeface="Georgia" pitchFamily="34" charset="0"/>
                <a:ea typeface="Georgia" pitchFamily="34" charset="-122"/>
                <a:cs typeface="Georgia" pitchFamily="34" charset="-120"/>
              </a:rPr>
              <a:t>Intent</a:t>
            </a:r>
            <a:endParaRPr lang="en-US" sz="2200" dirty="0"/>
          </a:p>
        </p:txBody>
      </p:sp>
      <p:sp>
        <p:nvSpPr>
          <p:cNvPr id="13" name="Text 11"/>
          <p:cNvSpPr/>
          <p:nvPr/>
        </p:nvSpPr>
        <p:spPr>
          <a:xfrm>
            <a:off x="4526280" y="2834640"/>
            <a:ext cx="2926080" cy="365760"/>
          </a:xfrm>
          <a:prstGeom prst="rect">
            <a:avLst/>
          </a:prstGeom>
          <a:noFill/>
          <a:ln/>
        </p:spPr>
        <p:txBody>
          <a:bodyPr wrap="square" lIns="0" tIns="0" rIns="0" bIns="0"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WHAT it meant to do</a:t>
            </a:r>
            <a:endParaRPr lang="en-US" sz="1400" dirty="0"/>
          </a:p>
        </p:txBody>
      </p:sp>
      <p:sp>
        <p:nvSpPr>
          <p:cNvPr id="14" name="Text 12"/>
          <p:cNvSpPr/>
          <p:nvPr/>
        </p:nvSpPr>
        <p:spPr>
          <a:xfrm>
            <a:off x="4526280" y="3246120"/>
            <a:ext cx="2926080" cy="777240"/>
          </a:xfrm>
          <a:prstGeom prst="rect">
            <a:avLst/>
          </a:prstGeom>
          <a:noFill/>
          <a:ln/>
        </p:spPr>
        <p:txBody>
          <a:bodyPr wrap="square" lIns="0" tIns="0" rIns="0" bIns="0" rtlCol="0" anchor="ctr"/>
          <a:lstStyle/>
          <a:p>
            <a:pPr indent="0" marL="0">
              <a:lnSpc>
                <a:spcPct val="105000"/>
              </a:lnSpc>
              <a:buNone/>
            </a:pPr>
            <a:r>
              <a:rPr lang="en-US" sz="1400" dirty="0">
                <a:solidFill>
                  <a:srgbClr val="64748B"/>
                </a:solidFill>
                <a:latin typeface="Calibri" pitchFamily="34" charset="0"/>
                <a:ea typeface="Calibri" pitchFamily="34" charset="-122"/>
                <a:cs typeface="Calibri" pitchFamily="34" charset="-120"/>
              </a:rPr>
              <a:t>the tool or command it invoked</a:t>
            </a:r>
            <a:endParaRPr lang="en-US" sz="1400" dirty="0"/>
          </a:p>
        </p:txBody>
      </p:sp>
      <p:sp>
        <p:nvSpPr>
          <p:cNvPr id="15" name="Shape 13"/>
          <p:cNvSpPr/>
          <p:nvPr/>
        </p:nvSpPr>
        <p:spPr>
          <a:xfrm>
            <a:off x="7955280" y="2057400"/>
            <a:ext cx="3429000" cy="2148840"/>
          </a:xfrm>
          <a:prstGeom prst="roundRect">
            <a:avLst>
              <a:gd name="adj" fmla="val 3404"/>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16" name="Shape 14"/>
          <p:cNvSpPr/>
          <p:nvPr/>
        </p:nvSpPr>
        <p:spPr>
          <a:xfrm>
            <a:off x="7955280" y="2057400"/>
            <a:ext cx="3429000" cy="109728"/>
          </a:xfrm>
          <a:prstGeom prst="rect">
            <a:avLst/>
          </a:prstGeom>
          <a:solidFill>
            <a:srgbClr val="475569"/>
          </a:solidFill>
          <a:ln/>
        </p:spPr>
      </p:sp>
      <p:sp>
        <p:nvSpPr>
          <p:cNvPr id="17" name="Text 15"/>
          <p:cNvSpPr/>
          <p:nvPr/>
        </p:nvSpPr>
        <p:spPr>
          <a:xfrm>
            <a:off x="8229600" y="2286000"/>
            <a:ext cx="2926080" cy="502920"/>
          </a:xfrm>
          <a:prstGeom prst="rect">
            <a:avLst/>
          </a:prstGeom>
          <a:noFill/>
          <a:ln/>
        </p:spPr>
        <p:txBody>
          <a:bodyPr wrap="square" lIns="0" tIns="0" rIns="0" bIns="0" rtlCol="0" anchor="ctr"/>
          <a:lstStyle/>
          <a:p>
            <a:pPr indent="0" marL="0">
              <a:buNone/>
            </a:pPr>
            <a:r>
              <a:rPr lang="en-US" sz="2200" b="1" dirty="0">
                <a:solidFill>
                  <a:srgbClr val="0F172A"/>
                </a:solidFill>
                <a:latin typeface="Georgia" pitchFamily="34" charset="0"/>
                <a:ea typeface="Georgia" pitchFamily="34" charset="-122"/>
                <a:cs typeface="Georgia" pitchFamily="34" charset="-120"/>
              </a:rPr>
              <a:t>Effect</a:t>
            </a:r>
            <a:endParaRPr lang="en-US" sz="2200" dirty="0"/>
          </a:p>
        </p:txBody>
      </p:sp>
      <p:sp>
        <p:nvSpPr>
          <p:cNvPr id="18" name="Text 16"/>
          <p:cNvSpPr/>
          <p:nvPr/>
        </p:nvSpPr>
        <p:spPr>
          <a:xfrm>
            <a:off x="8229600" y="2834640"/>
            <a:ext cx="2926080" cy="365760"/>
          </a:xfrm>
          <a:prstGeom prst="rect">
            <a:avLst/>
          </a:prstGeom>
          <a:noFill/>
          <a:ln/>
        </p:spPr>
        <p:txBody>
          <a:bodyPr wrap="square" lIns="0" tIns="0" rIns="0" bIns="0" rtlCol="0" anchor="ctr"/>
          <a:lstStyle/>
          <a:p>
            <a:pPr indent="0" marL="0">
              <a:buNone/>
            </a:pPr>
            <a:r>
              <a:rPr lang="en-US" sz="1400" b="1" dirty="0">
                <a:solidFill>
                  <a:srgbClr val="475569"/>
                </a:solidFill>
                <a:latin typeface="Calibri" pitchFamily="34" charset="0"/>
                <a:ea typeface="Calibri" pitchFamily="34" charset="-122"/>
                <a:cs typeface="Calibri" pitchFamily="34" charset="-120"/>
              </a:rPr>
              <a:t>WHAT actually happened</a:t>
            </a:r>
            <a:endParaRPr lang="en-US" sz="1400" dirty="0"/>
          </a:p>
        </p:txBody>
      </p:sp>
      <p:sp>
        <p:nvSpPr>
          <p:cNvPr id="19" name="Text 17"/>
          <p:cNvSpPr/>
          <p:nvPr/>
        </p:nvSpPr>
        <p:spPr>
          <a:xfrm>
            <a:off x="8229600" y="3246120"/>
            <a:ext cx="2926080" cy="777240"/>
          </a:xfrm>
          <a:prstGeom prst="rect">
            <a:avLst/>
          </a:prstGeom>
          <a:noFill/>
          <a:ln/>
        </p:spPr>
        <p:txBody>
          <a:bodyPr wrap="square" lIns="0" tIns="0" rIns="0" bIns="0" rtlCol="0" anchor="ctr"/>
          <a:lstStyle/>
          <a:p>
            <a:pPr indent="0" marL="0">
              <a:lnSpc>
                <a:spcPct val="105000"/>
              </a:lnSpc>
              <a:buNone/>
            </a:pPr>
            <a:r>
              <a:rPr lang="en-US" sz="1400" dirty="0">
                <a:solidFill>
                  <a:srgbClr val="64748B"/>
                </a:solidFill>
                <a:latin typeface="Calibri" pitchFamily="34" charset="0"/>
                <a:ea typeface="Calibri" pitchFamily="34" charset="-122"/>
                <a:cs typeface="Calibri" pitchFamily="34" charset="-120"/>
              </a:rPr>
              <a:t>file opened, process run, socket opened</a:t>
            </a:r>
            <a:endParaRPr lang="en-US" sz="1400" dirty="0"/>
          </a:p>
        </p:txBody>
      </p:sp>
      <p:sp>
        <p:nvSpPr>
          <p:cNvPr id="20" name="Shape 18"/>
          <p:cNvSpPr/>
          <p:nvPr/>
        </p:nvSpPr>
        <p:spPr>
          <a:xfrm>
            <a:off x="548640" y="4526280"/>
            <a:ext cx="11064240" cy="1554480"/>
          </a:xfrm>
          <a:prstGeom prst="roundRect">
            <a:avLst>
              <a:gd name="adj" fmla="val 4706"/>
            </a:avLst>
          </a:prstGeom>
          <a:solidFill>
            <a:srgbClr val="0B1437"/>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21" name="Text 19"/>
          <p:cNvSpPr/>
          <p:nvPr/>
        </p:nvSpPr>
        <p:spPr>
          <a:xfrm>
            <a:off x="868680" y="4800600"/>
            <a:ext cx="10424160" cy="1005840"/>
          </a:xfrm>
          <a:prstGeom prst="rect">
            <a:avLst/>
          </a:prstGeom>
          <a:noFill/>
          <a:ln/>
        </p:spPr>
        <p:txBody>
          <a:bodyPr wrap="square" lIns="0" tIns="0" rIns="0" bIns="0" rtlCol="0" anchor="ctr"/>
          <a:lstStyle/>
          <a:p>
            <a:pPr indent="0" marL="0">
              <a:lnSpc>
                <a:spcPct val="108000"/>
              </a:lnSpc>
              <a:buNone/>
            </a:pPr>
            <a:r>
              <a:rPr lang="en-US" sz="1900" b="1" i="1" dirty="0">
                <a:solidFill>
                  <a:srgbClr val="5EEAD4"/>
                </a:solidFill>
                <a:latin typeface="Georgia" pitchFamily="34" charset="0"/>
                <a:ea typeface="Georgia" pitchFamily="34" charset="-122"/>
                <a:cs typeface="Georgia" pitchFamily="34" charset="-120"/>
              </a:rPr>
              <a:t>The gold is the disagreement.  </a:t>
            </a:r>
            <a:pPr indent="0" marL="0">
              <a:lnSpc>
                <a:spcPct val="108000"/>
              </a:lnSpc>
              <a:buNone/>
            </a:pPr>
            <a:r>
              <a:rPr lang="en-US" sz="1900" i="1" dirty="0">
                <a:solidFill>
                  <a:srgbClr val="FFFFFF"/>
                </a:solidFill>
                <a:latin typeface="Georgia" pitchFamily="34" charset="0"/>
                <a:ea typeface="Georgia" pitchFamily="34" charset="-122"/>
                <a:cs typeface="Georgia" pitchFamily="34" charset="-120"/>
              </a:rPr>
              <a:t>“Claimed to read config.yaml, actually opened .env.” A logger captures layers; an auditor reconciles them.</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The hero loop — policy by demonstration</a:t>
            </a:r>
            <a:endParaRPr lang="en-US" sz="3000" dirty="0"/>
          </a:p>
        </p:txBody>
      </p:sp>
      <p:sp>
        <p:nvSpPr>
          <p:cNvPr id="4" name="Shape 2"/>
          <p:cNvSpPr/>
          <p:nvPr/>
        </p:nvSpPr>
        <p:spPr>
          <a:xfrm>
            <a:off x="548640" y="1554480"/>
            <a:ext cx="3429000" cy="1508760"/>
          </a:xfrm>
          <a:prstGeom prst="roundRect">
            <a:avLst>
              <a:gd name="adj" fmla="val 4848"/>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5" name="Shape 3"/>
          <p:cNvSpPr/>
          <p:nvPr/>
        </p:nvSpPr>
        <p:spPr>
          <a:xfrm>
            <a:off x="804672" y="1810512"/>
            <a:ext cx="548640" cy="548640"/>
          </a:xfrm>
          <a:prstGeom prst="ellipse">
            <a:avLst/>
          </a:prstGeom>
          <a:solidFill>
            <a:srgbClr val="0F172A"/>
          </a:solidFill>
          <a:ln/>
        </p:spPr>
      </p:sp>
      <p:sp>
        <p:nvSpPr>
          <p:cNvPr id="6" name="Text 4"/>
          <p:cNvSpPr/>
          <p:nvPr/>
        </p:nvSpPr>
        <p:spPr>
          <a:xfrm>
            <a:off x="804672" y="18105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508760" y="1792224"/>
            <a:ext cx="2286000" cy="45720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Record</a:t>
            </a:r>
            <a:endParaRPr lang="en-US" sz="1700" dirty="0"/>
          </a:p>
        </p:txBody>
      </p:sp>
      <p:sp>
        <p:nvSpPr>
          <p:cNvPr id="8" name="Text 6"/>
          <p:cNvSpPr/>
          <p:nvPr/>
        </p:nvSpPr>
        <p:spPr>
          <a:xfrm>
            <a:off x="822960" y="2395728"/>
            <a:ext cx="2926080" cy="548640"/>
          </a:xfrm>
          <a:prstGeom prst="rect">
            <a:avLst/>
          </a:prstGeom>
          <a:noFill/>
          <a:ln/>
        </p:spPr>
        <p:txBody>
          <a:bodyPr wrap="square" lIns="0" tIns="0" rIns="0" bIns="0" rtlCol="0" anchor="ctr"/>
          <a:lstStyle/>
          <a:p>
            <a:pPr indent="0" marL="0">
              <a:lnSpc>
                <a:spcPct val="100000"/>
              </a:lnSpc>
              <a:buNone/>
            </a:pPr>
            <a:r>
              <a:rPr lang="en-US" sz="1350" dirty="0">
                <a:solidFill>
                  <a:srgbClr val="64748B"/>
                </a:solidFill>
                <a:latin typeface="Calibri" pitchFamily="34" charset="0"/>
                <a:ea typeface="Calibri" pitchFamily="34" charset="-122"/>
                <a:cs typeface="Calibri" pitchFamily="34" charset="-120"/>
              </a:rPr>
              <a:t>a run → one unified action flow</a:t>
            </a:r>
            <a:endParaRPr lang="en-US" sz="1350" dirty="0"/>
          </a:p>
        </p:txBody>
      </p:sp>
      <p:sp>
        <p:nvSpPr>
          <p:cNvPr id="9" name="Shape 7"/>
          <p:cNvSpPr/>
          <p:nvPr/>
        </p:nvSpPr>
        <p:spPr>
          <a:xfrm>
            <a:off x="4251960" y="1554480"/>
            <a:ext cx="3429000" cy="1508760"/>
          </a:xfrm>
          <a:prstGeom prst="roundRect">
            <a:avLst>
              <a:gd name="adj" fmla="val 4848"/>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10" name="Shape 8"/>
          <p:cNvSpPr/>
          <p:nvPr/>
        </p:nvSpPr>
        <p:spPr>
          <a:xfrm>
            <a:off x="4507992" y="1810512"/>
            <a:ext cx="548640" cy="548640"/>
          </a:xfrm>
          <a:prstGeom prst="ellipse">
            <a:avLst/>
          </a:prstGeom>
          <a:solidFill>
            <a:srgbClr val="0F172A"/>
          </a:solidFill>
          <a:ln/>
        </p:spPr>
      </p:sp>
      <p:sp>
        <p:nvSpPr>
          <p:cNvPr id="11" name="Text 9"/>
          <p:cNvSpPr/>
          <p:nvPr/>
        </p:nvSpPr>
        <p:spPr>
          <a:xfrm>
            <a:off x="4507992" y="18105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2" name="Text 10"/>
          <p:cNvSpPr/>
          <p:nvPr/>
        </p:nvSpPr>
        <p:spPr>
          <a:xfrm>
            <a:off x="5212080" y="1792224"/>
            <a:ext cx="2286000" cy="45720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Show</a:t>
            </a:r>
            <a:endParaRPr lang="en-US" sz="1700" dirty="0"/>
          </a:p>
        </p:txBody>
      </p:sp>
      <p:sp>
        <p:nvSpPr>
          <p:cNvPr id="13" name="Text 11"/>
          <p:cNvSpPr/>
          <p:nvPr/>
        </p:nvSpPr>
        <p:spPr>
          <a:xfrm>
            <a:off x="4526280" y="2395728"/>
            <a:ext cx="2926080" cy="548640"/>
          </a:xfrm>
          <a:prstGeom prst="rect">
            <a:avLst/>
          </a:prstGeom>
          <a:noFill/>
          <a:ln/>
        </p:spPr>
        <p:txBody>
          <a:bodyPr wrap="square" lIns="0" tIns="0" rIns="0" bIns="0" rtlCol="0" anchor="ctr"/>
          <a:lstStyle/>
          <a:p>
            <a:pPr indent="0" marL="0">
              <a:lnSpc>
                <a:spcPct val="100000"/>
              </a:lnSpc>
              <a:buNone/>
            </a:pPr>
            <a:r>
              <a:rPr lang="en-US" sz="1350" dirty="0">
                <a:solidFill>
                  <a:srgbClr val="64748B"/>
                </a:solidFill>
                <a:latin typeface="Calibri" pitchFamily="34" charset="0"/>
                <a:ea typeface="Calibri" pitchFamily="34" charset="-122"/>
                <a:cs typeface="Calibri" pitchFamily="34" charset="-120"/>
              </a:rPr>
              <a:t>every action, in order</a:t>
            </a:r>
            <a:endParaRPr lang="en-US" sz="1350" dirty="0"/>
          </a:p>
        </p:txBody>
      </p:sp>
      <p:sp>
        <p:nvSpPr>
          <p:cNvPr id="14" name="Shape 12"/>
          <p:cNvSpPr/>
          <p:nvPr/>
        </p:nvSpPr>
        <p:spPr>
          <a:xfrm>
            <a:off x="7955280" y="1554480"/>
            <a:ext cx="3429000" cy="1508760"/>
          </a:xfrm>
          <a:prstGeom prst="roundRect">
            <a:avLst>
              <a:gd name="adj" fmla="val 4848"/>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15" name="Shape 13"/>
          <p:cNvSpPr/>
          <p:nvPr/>
        </p:nvSpPr>
        <p:spPr>
          <a:xfrm>
            <a:off x="8211312" y="1810512"/>
            <a:ext cx="548640" cy="548640"/>
          </a:xfrm>
          <a:prstGeom prst="ellipse">
            <a:avLst/>
          </a:prstGeom>
          <a:solidFill>
            <a:srgbClr val="F59E0B"/>
          </a:solidFill>
          <a:ln/>
        </p:spPr>
      </p:sp>
      <p:sp>
        <p:nvSpPr>
          <p:cNvPr id="16" name="Text 14"/>
          <p:cNvSpPr/>
          <p:nvPr/>
        </p:nvSpPr>
        <p:spPr>
          <a:xfrm>
            <a:off x="8211312" y="18105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7" name="Text 15"/>
          <p:cNvSpPr/>
          <p:nvPr/>
        </p:nvSpPr>
        <p:spPr>
          <a:xfrm>
            <a:off x="8915400" y="1792224"/>
            <a:ext cx="2286000" cy="45720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Allow / Block</a:t>
            </a:r>
            <a:endParaRPr lang="en-US" sz="1700" dirty="0"/>
          </a:p>
        </p:txBody>
      </p:sp>
      <p:sp>
        <p:nvSpPr>
          <p:cNvPr id="18" name="Text 16"/>
          <p:cNvSpPr/>
          <p:nvPr/>
        </p:nvSpPr>
        <p:spPr>
          <a:xfrm>
            <a:off x="8229600" y="2395728"/>
            <a:ext cx="2926080" cy="548640"/>
          </a:xfrm>
          <a:prstGeom prst="rect">
            <a:avLst/>
          </a:prstGeom>
          <a:noFill/>
          <a:ln/>
        </p:spPr>
        <p:txBody>
          <a:bodyPr wrap="square" lIns="0" tIns="0" rIns="0" bIns="0" rtlCol="0" anchor="ctr"/>
          <a:lstStyle/>
          <a:p>
            <a:pPr indent="0" marL="0">
              <a:lnSpc>
                <a:spcPct val="100000"/>
              </a:lnSpc>
              <a:buNone/>
            </a:pPr>
            <a:r>
              <a:rPr lang="en-US" sz="1350" dirty="0">
                <a:solidFill>
                  <a:srgbClr val="64748B"/>
                </a:solidFill>
                <a:latin typeface="Calibri" pitchFamily="34" charset="0"/>
                <a:ea typeface="Calibri" pitchFamily="34" charset="-122"/>
                <a:cs typeface="Calibri" pitchFamily="34" charset="-120"/>
              </a:rPr>
              <a:t>a human reacts to what happened</a:t>
            </a:r>
            <a:endParaRPr lang="en-US" sz="1350" dirty="0"/>
          </a:p>
        </p:txBody>
      </p:sp>
      <p:sp>
        <p:nvSpPr>
          <p:cNvPr id="19" name="Shape 17"/>
          <p:cNvSpPr/>
          <p:nvPr/>
        </p:nvSpPr>
        <p:spPr>
          <a:xfrm>
            <a:off x="548640" y="3337560"/>
            <a:ext cx="3429000" cy="1508760"/>
          </a:xfrm>
          <a:prstGeom prst="roundRect">
            <a:avLst>
              <a:gd name="adj" fmla="val 4848"/>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20" name="Shape 18"/>
          <p:cNvSpPr/>
          <p:nvPr/>
        </p:nvSpPr>
        <p:spPr>
          <a:xfrm>
            <a:off x="804672" y="3593592"/>
            <a:ext cx="548640" cy="548640"/>
          </a:xfrm>
          <a:prstGeom prst="ellipse">
            <a:avLst/>
          </a:prstGeom>
          <a:solidFill>
            <a:srgbClr val="0F172A"/>
          </a:solidFill>
          <a:ln/>
        </p:spPr>
      </p:sp>
      <p:sp>
        <p:nvSpPr>
          <p:cNvPr id="21" name="Text 19"/>
          <p:cNvSpPr/>
          <p:nvPr/>
        </p:nvSpPr>
        <p:spPr>
          <a:xfrm>
            <a:off x="804672" y="35935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2" name="Text 20"/>
          <p:cNvSpPr/>
          <p:nvPr/>
        </p:nvSpPr>
        <p:spPr>
          <a:xfrm>
            <a:off x="1508760" y="3575304"/>
            <a:ext cx="2286000" cy="45720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Recommend</a:t>
            </a:r>
            <a:endParaRPr lang="en-US" sz="1700" dirty="0"/>
          </a:p>
        </p:txBody>
      </p:sp>
      <p:sp>
        <p:nvSpPr>
          <p:cNvPr id="23" name="Text 21"/>
          <p:cNvSpPr/>
          <p:nvPr/>
        </p:nvSpPr>
        <p:spPr>
          <a:xfrm>
            <a:off x="822960" y="4178808"/>
            <a:ext cx="2926080" cy="548640"/>
          </a:xfrm>
          <a:prstGeom prst="rect">
            <a:avLst/>
          </a:prstGeom>
          <a:noFill/>
          <a:ln/>
        </p:spPr>
        <p:txBody>
          <a:bodyPr wrap="square" lIns="0" tIns="0" rIns="0" bIns="0" rtlCol="0" anchor="ctr"/>
          <a:lstStyle/>
          <a:p>
            <a:pPr indent="0" marL="0">
              <a:lnSpc>
                <a:spcPct val="100000"/>
              </a:lnSpc>
              <a:buNone/>
            </a:pPr>
            <a:r>
              <a:rPr lang="en-US" sz="1350" dirty="0">
                <a:solidFill>
                  <a:srgbClr val="64748B"/>
                </a:solidFill>
                <a:latin typeface="Calibri" pitchFamily="34" charset="0"/>
                <a:ea typeface="Calibri" pitchFamily="34" charset="-122"/>
                <a:cs typeface="Calibri" pitchFamily="34" charset="-120"/>
              </a:rPr>
              <a:t>AI drafts reusable rules — with reasons</a:t>
            </a:r>
            <a:endParaRPr lang="en-US" sz="1350" dirty="0"/>
          </a:p>
        </p:txBody>
      </p:sp>
      <p:sp>
        <p:nvSpPr>
          <p:cNvPr id="24" name="Shape 22"/>
          <p:cNvSpPr/>
          <p:nvPr/>
        </p:nvSpPr>
        <p:spPr>
          <a:xfrm>
            <a:off x="4251960" y="3337560"/>
            <a:ext cx="3429000" cy="1508760"/>
          </a:xfrm>
          <a:prstGeom prst="roundRect">
            <a:avLst>
              <a:gd name="adj" fmla="val 4848"/>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25" name="Shape 23"/>
          <p:cNvSpPr/>
          <p:nvPr/>
        </p:nvSpPr>
        <p:spPr>
          <a:xfrm>
            <a:off x="4507992" y="3593592"/>
            <a:ext cx="548640" cy="548640"/>
          </a:xfrm>
          <a:prstGeom prst="ellipse">
            <a:avLst/>
          </a:prstGeom>
          <a:solidFill>
            <a:srgbClr val="0D9488"/>
          </a:solidFill>
          <a:ln/>
        </p:spPr>
      </p:sp>
      <p:sp>
        <p:nvSpPr>
          <p:cNvPr id="26" name="Text 24"/>
          <p:cNvSpPr/>
          <p:nvPr/>
        </p:nvSpPr>
        <p:spPr>
          <a:xfrm>
            <a:off x="4507992" y="35935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27" name="Text 25"/>
          <p:cNvSpPr/>
          <p:nvPr/>
        </p:nvSpPr>
        <p:spPr>
          <a:xfrm>
            <a:off x="5212080" y="3575304"/>
            <a:ext cx="2286000" cy="45720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Enforce</a:t>
            </a:r>
            <a:endParaRPr lang="en-US" sz="1700" dirty="0"/>
          </a:p>
        </p:txBody>
      </p:sp>
      <p:sp>
        <p:nvSpPr>
          <p:cNvPr id="28" name="Text 26"/>
          <p:cNvSpPr/>
          <p:nvPr/>
        </p:nvSpPr>
        <p:spPr>
          <a:xfrm>
            <a:off x="4526280" y="4178808"/>
            <a:ext cx="2926080" cy="548640"/>
          </a:xfrm>
          <a:prstGeom prst="rect">
            <a:avLst/>
          </a:prstGeom>
          <a:noFill/>
          <a:ln/>
        </p:spPr>
        <p:txBody>
          <a:bodyPr wrap="square" lIns="0" tIns="0" rIns="0" bIns="0" rtlCol="0" anchor="ctr"/>
          <a:lstStyle/>
          <a:p>
            <a:pPr indent="0" marL="0">
              <a:lnSpc>
                <a:spcPct val="100000"/>
              </a:lnSpc>
              <a:buNone/>
            </a:pPr>
            <a:r>
              <a:rPr lang="en-US" sz="1350" dirty="0">
                <a:solidFill>
                  <a:srgbClr val="64748B"/>
                </a:solidFill>
                <a:latin typeface="Calibri" pitchFamily="34" charset="0"/>
                <a:ea typeface="Calibri" pitchFamily="34" charset="-122"/>
                <a:cs typeface="Calibri" pitchFamily="34" charset="-120"/>
              </a:rPr>
              <a:t>next run: observe → alert → block</a:t>
            </a:r>
            <a:endParaRPr lang="en-US" sz="1350" dirty="0"/>
          </a:p>
        </p:txBody>
      </p:sp>
      <p:sp>
        <p:nvSpPr>
          <p:cNvPr id="29" name="Shape 27"/>
          <p:cNvSpPr/>
          <p:nvPr/>
        </p:nvSpPr>
        <p:spPr>
          <a:xfrm>
            <a:off x="7955280" y="3337560"/>
            <a:ext cx="3429000" cy="1508760"/>
          </a:xfrm>
          <a:prstGeom prst="roundRect">
            <a:avLst>
              <a:gd name="adj" fmla="val 4848"/>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30" name="Shape 28"/>
          <p:cNvSpPr/>
          <p:nvPr/>
        </p:nvSpPr>
        <p:spPr>
          <a:xfrm>
            <a:off x="8211312" y="3593592"/>
            <a:ext cx="548640" cy="548640"/>
          </a:xfrm>
          <a:prstGeom prst="ellipse">
            <a:avLst/>
          </a:prstGeom>
          <a:solidFill>
            <a:srgbClr val="0D9488"/>
          </a:solidFill>
          <a:ln/>
        </p:spPr>
      </p:sp>
      <p:sp>
        <p:nvSpPr>
          <p:cNvPr id="31" name="Text 29"/>
          <p:cNvSpPr/>
          <p:nvPr/>
        </p:nvSpPr>
        <p:spPr>
          <a:xfrm>
            <a:off x="8211312" y="35935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2" name="Text 30"/>
          <p:cNvSpPr/>
          <p:nvPr/>
        </p:nvSpPr>
        <p:spPr>
          <a:xfrm>
            <a:off x="8915400" y="3575304"/>
            <a:ext cx="2286000" cy="45720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Close the loop</a:t>
            </a:r>
            <a:endParaRPr lang="en-US" sz="1700" dirty="0"/>
          </a:p>
        </p:txBody>
      </p:sp>
      <p:sp>
        <p:nvSpPr>
          <p:cNvPr id="33" name="Text 31"/>
          <p:cNvSpPr/>
          <p:nvPr/>
        </p:nvSpPr>
        <p:spPr>
          <a:xfrm>
            <a:off x="8229600" y="4178808"/>
            <a:ext cx="2926080" cy="548640"/>
          </a:xfrm>
          <a:prstGeom prst="rect">
            <a:avLst/>
          </a:prstGeom>
          <a:noFill/>
          <a:ln/>
        </p:spPr>
        <p:txBody>
          <a:bodyPr wrap="square" lIns="0" tIns="0" rIns="0" bIns="0" rtlCol="0" anchor="ctr"/>
          <a:lstStyle/>
          <a:p>
            <a:pPr indent="0" marL="0">
              <a:lnSpc>
                <a:spcPct val="100000"/>
              </a:lnSpc>
              <a:buNone/>
            </a:pPr>
            <a:r>
              <a:rPr lang="en-US" sz="1350" dirty="0">
                <a:solidFill>
                  <a:srgbClr val="64748B"/>
                </a:solidFill>
                <a:latin typeface="Calibri" pitchFamily="34" charset="0"/>
                <a:ea typeface="Calibri" pitchFamily="34" charset="-122"/>
                <a:cs typeface="Calibri" pitchFamily="34" charset="-120"/>
              </a:rPr>
              <a:t>policy catches it next time</a:t>
            </a:r>
            <a:endParaRPr lang="en-US" sz="1350" dirty="0"/>
          </a:p>
        </p:txBody>
      </p:sp>
      <p:sp>
        <p:nvSpPr>
          <p:cNvPr id="34" name="Text 32"/>
          <p:cNvSpPr/>
          <p:nvPr/>
        </p:nvSpPr>
        <p:spPr>
          <a:xfrm>
            <a:off x="548640" y="5257800"/>
            <a:ext cx="11064240" cy="548640"/>
          </a:xfrm>
          <a:prstGeom prst="rect">
            <a:avLst/>
          </a:prstGeom>
          <a:noFill/>
          <a:ln/>
        </p:spPr>
        <p:txBody>
          <a:bodyPr wrap="square" lIns="0" tIns="0" rIns="0" bIns="0" rtlCol="0" anchor="ctr"/>
          <a:lstStyle/>
          <a:p>
            <a:pPr algn="ctr" indent="0" marL="0">
              <a:buNone/>
            </a:pPr>
            <a:r>
              <a:rPr lang="en-US" sz="1600" b="1" i="1" dirty="0">
                <a:solidFill>
                  <a:srgbClr val="0D9488"/>
                </a:solidFill>
                <a:latin typeface="Calibri" pitchFamily="34" charset="0"/>
                <a:ea typeface="Calibri" pitchFamily="34" charset="-122"/>
                <a:cs typeface="Calibri" pitchFamily="34" charset="-120"/>
              </a:rPr>
              <a:t>the round-trip IS the product — every turn, the agent earns a little more trusted autonomy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Architecture at a glance</a:t>
            </a:r>
            <a:endParaRPr lang="en-US" sz="3000" dirty="0"/>
          </a:p>
        </p:txBody>
      </p:sp>
      <p:sp>
        <p:nvSpPr>
          <p:cNvPr id="4" name="Shape 2"/>
          <p:cNvSpPr/>
          <p:nvPr/>
        </p:nvSpPr>
        <p:spPr>
          <a:xfrm>
            <a:off x="548640" y="1463040"/>
            <a:ext cx="11064240" cy="1783080"/>
          </a:xfrm>
          <a:prstGeom prst="roundRect">
            <a:avLst>
              <a:gd name="adj" fmla="val 4103"/>
            </a:avLst>
          </a:prstGeom>
          <a:solidFill>
            <a:srgbClr val="0B1437"/>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5" name="Text 3"/>
          <p:cNvSpPr/>
          <p:nvPr/>
        </p:nvSpPr>
        <p:spPr>
          <a:xfrm>
            <a:off x="868680" y="1664208"/>
            <a:ext cx="10424160" cy="365760"/>
          </a:xfrm>
          <a:prstGeom prst="rect">
            <a:avLst/>
          </a:prstGeom>
          <a:noFill/>
          <a:ln/>
        </p:spPr>
        <p:txBody>
          <a:bodyPr wrap="square" lIns="0" tIns="0" rIns="0" bIns="0" rtlCol="0" anchor="ctr"/>
          <a:lstStyle/>
          <a:p>
            <a:pPr indent="0" marL="0">
              <a:buNone/>
            </a:pPr>
            <a:r>
              <a:rPr lang="en-US" sz="1300" b="1" spc="200" kern="0" dirty="0">
                <a:solidFill>
                  <a:srgbClr val="5EEAD4"/>
                </a:solidFill>
                <a:latin typeface="Calibri" pitchFamily="34" charset="0"/>
                <a:ea typeface="Calibri" pitchFamily="34" charset="-122"/>
                <a:cs typeface="Calibri" pitchFamily="34" charset="-120"/>
              </a:rPr>
              <a:t>CONTROL PLANE  ·  the carved spine, grown up (central — stays small on purpose)</a:t>
            </a:r>
            <a:endParaRPr lang="en-US" sz="1300" dirty="0"/>
          </a:p>
        </p:txBody>
      </p:sp>
      <p:sp>
        <p:nvSpPr>
          <p:cNvPr id="6" name="Shape 4"/>
          <p:cNvSpPr/>
          <p:nvPr/>
        </p:nvSpPr>
        <p:spPr>
          <a:xfrm>
            <a:off x="868680" y="2240280"/>
            <a:ext cx="1645920" cy="777240"/>
          </a:xfrm>
          <a:prstGeom prst="roundRect">
            <a:avLst>
              <a:gd name="adj" fmla="val 7059"/>
            </a:avLst>
          </a:prstGeom>
          <a:solidFill>
            <a:srgbClr val="1E293B"/>
          </a:solidFill>
          <a:ln w="12700">
            <a:solidFill>
              <a:srgbClr val="0D9488"/>
            </a:solidFill>
            <a:prstDash val="solid"/>
          </a:ln>
        </p:spPr>
      </p:sp>
      <p:sp>
        <p:nvSpPr>
          <p:cNvPr id="7" name="Text 5"/>
          <p:cNvSpPr/>
          <p:nvPr/>
        </p:nvSpPr>
        <p:spPr>
          <a:xfrm>
            <a:off x="914400" y="2240280"/>
            <a:ext cx="1554480" cy="7772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normalize events</a:t>
            </a:r>
            <a:endParaRPr lang="en-US" sz="1200" dirty="0"/>
          </a:p>
        </p:txBody>
      </p:sp>
      <p:sp>
        <p:nvSpPr>
          <p:cNvPr id="8" name="Shape 6"/>
          <p:cNvSpPr/>
          <p:nvPr/>
        </p:nvSpPr>
        <p:spPr>
          <a:xfrm>
            <a:off x="2660904" y="2240280"/>
            <a:ext cx="1645920" cy="777240"/>
          </a:xfrm>
          <a:prstGeom prst="roundRect">
            <a:avLst>
              <a:gd name="adj" fmla="val 7059"/>
            </a:avLst>
          </a:prstGeom>
          <a:solidFill>
            <a:srgbClr val="1E293B"/>
          </a:solidFill>
          <a:ln w="12700">
            <a:solidFill>
              <a:srgbClr val="0D9488"/>
            </a:solidFill>
            <a:prstDash val="solid"/>
          </a:ln>
        </p:spPr>
      </p:sp>
      <p:sp>
        <p:nvSpPr>
          <p:cNvPr id="9" name="Text 7"/>
          <p:cNvSpPr/>
          <p:nvPr/>
        </p:nvSpPr>
        <p:spPr>
          <a:xfrm>
            <a:off x="2706624" y="2240280"/>
            <a:ext cx="1554480" cy="7772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correlate → causal trace</a:t>
            </a:r>
            <a:endParaRPr lang="en-US" sz="1200" dirty="0"/>
          </a:p>
        </p:txBody>
      </p:sp>
      <p:sp>
        <p:nvSpPr>
          <p:cNvPr id="10" name="Shape 8"/>
          <p:cNvSpPr/>
          <p:nvPr/>
        </p:nvSpPr>
        <p:spPr>
          <a:xfrm>
            <a:off x="4453128" y="2240280"/>
            <a:ext cx="1645920" cy="777240"/>
          </a:xfrm>
          <a:prstGeom prst="roundRect">
            <a:avLst>
              <a:gd name="adj" fmla="val 7059"/>
            </a:avLst>
          </a:prstGeom>
          <a:solidFill>
            <a:srgbClr val="1E293B"/>
          </a:solidFill>
          <a:ln w="12700">
            <a:solidFill>
              <a:srgbClr val="0D9488"/>
            </a:solidFill>
            <a:prstDash val="solid"/>
          </a:ln>
        </p:spPr>
      </p:sp>
      <p:sp>
        <p:nvSpPr>
          <p:cNvPr id="11" name="Text 9"/>
          <p:cNvSpPr/>
          <p:nvPr/>
        </p:nvSpPr>
        <p:spPr>
          <a:xfrm>
            <a:off x="4498848" y="2240280"/>
            <a:ext cx="1554480" cy="7772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tamper-evident store</a:t>
            </a:r>
            <a:endParaRPr lang="en-US" sz="1200" dirty="0"/>
          </a:p>
        </p:txBody>
      </p:sp>
      <p:sp>
        <p:nvSpPr>
          <p:cNvPr id="12" name="Shape 10"/>
          <p:cNvSpPr/>
          <p:nvPr/>
        </p:nvSpPr>
        <p:spPr>
          <a:xfrm>
            <a:off x="6245352" y="2240280"/>
            <a:ext cx="1645920" cy="777240"/>
          </a:xfrm>
          <a:prstGeom prst="roundRect">
            <a:avLst>
              <a:gd name="adj" fmla="val 7059"/>
            </a:avLst>
          </a:prstGeom>
          <a:solidFill>
            <a:srgbClr val="1E293B"/>
          </a:solidFill>
          <a:ln w="12700">
            <a:solidFill>
              <a:srgbClr val="0D9488"/>
            </a:solidFill>
            <a:prstDash val="solid"/>
          </a:ln>
        </p:spPr>
      </p:sp>
      <p:sp>
        <p:nvSpPr>
          <p:cNvPr id="13" name="Text 11"/>
          <p:cNvSpPr/>
          <p:nvPr/>
        </p:nvSpPr>
        <p:spPr>
          <a:xfrm>
            <a:off x="6291072" y="2240280"/>
            <a:ext cx="1554480" cy="7772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evaluate policy</a:t>
            </a:r>
            <a:endParaRPr lang="en-US" sz="1200" dirty="0"/>
          </a:p>
        </p:txBody>
      </p:sp>
      <p:sp>
        <p:nvSpPr>
          <p:cNvPr id="14" name="Shape 12"/>
          <p:cNvSpPr/>
          <p:nvPr/>
        </p:nvSpPr>
        <p:spPr>
          <a:xfrm>
            <a:off x="8037576" y="2240280"/>
            <a:ext cx="1645920" cy="777240"/>
          </a:xfrm>
          <a:prstGeom prst="roundRect">
            <a:avLst>
              <a:gd name="adj" fmla="val 7059"/>
            </a:avLst>
          </a:prstGeom>
          <a:solidFill>
            <a:srgbClr val="1E293B"/>
          </a:solidFill>
          <a:ln w="12700">
            <a:solidFill>
              <a:srgbClr val="0D9488"/>
            </a:solidFill>
            <a:prstDash val="solid"/>
          </a:ln>
        </p:spPr>
      </p:sp>
      <p:sp>
        <p:nvSpPr>
          <p:cNvPr id="15" name="Text 13"/>
          <p:cNvSpPr/>
          <p:nvPr/>
        </p:nvSpPr>
        <p:spPr>
          <a:xfrm>
            <a:off x="8083296" y="2240280"/>
            <a:ext cx="1554480" cy="7772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verify / reconcile</a:t>
            </a:r>
            <a:endParaRPr lang="en-US" sz="1200" dirty="0"/>
          </a:p>
        </p:txBody>
      </p:sp>
      <p:sp>
        <p:nvSpPr>
          <p:cNvPr id="16" name="Shape 14"/>
          <p:cNvSpPr/>
          <p:nvPr/>
        </p:nvSpPr>
        <p:spPr>
          <a:xfrm>
            <a:off x="9829800" y="2240280"/>
            <a:ext cx="1645920" cy="777240"/>
          </a:xfrm>
          <a:prstGeom prst="roundRect">
            <a:avLst>
              <a:gd name="adj" fmla="val 7059"/>
            </a:avLst>
          </a:prstGeom>
          <a:solidFill>
            <a:srgbClr val="1E293B"/>
          </a:solidFill>
          <a:ln w="12700">
            <a:solidFill>
              <a:srgbClr val="0D9488"/>
            </a:solidFill>
            <a:prstDash val="solid"/>
          </a:ln>
        </p:spPr>
      </p:sp>
      <p:sp>
        <p:nvSpPr>
          <p:cNvPr id="17" name="Text 15"/>
          <p:cNvSpPr/>
          <p:nvPr/>
        </p:nvSpPr>
        <p:spPr>
          <a:xfrm>
            <a:off x="9875520" y="2240280"/>
            <a:ext cx="1554480" cy="7772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report</a:t>
            </a:r>
            <a:endParaRPr lang="en-US" sz="1200" dirty="0"/>
          </a:p>
        </p:txBody>
      </p:sp>
      <p:sp>
        <p:nvSpPr>
          <p:cNvPr id="18" name="Text 16"/>
          <p:cNvSpPr/>
          <p:nvPr/>
        </p:nvSpPr>
        <p:spPr>
          <a:xfrm>
            <a:off x="548640" y="3401568"/>
            <a:ext cx="11064240" cy="32004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captures intent now  ·  effect later</a:t>
            </a:r>
            <a:endParaRPr lang="en-US" sz="1200" dirty="0"/>
          </a:p>
        </p:txBody>
      </p:sp>
      <p:sp>
        <p:nvSpPr>
          <p:cNvPr id="19" name="Shape 17"/>
          <p:cNvSpPr/>
          <p:nvPr/>
        </p:nvSpPr>
        <p:spPr>
          <a:xfrm>
            <a:off x="548640" y="3840480"/>
            <a:ext cx="5440680" cy="2286000"/>
          </a:xfrm>
          <a:prstGeom prst="roundRect">
            <a:avLst>
              <a:gd name="adj" fmla="val 3200"/>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20" name="Text 18"/>
          <p:cNvSpPr/>
          <p:nvPr/>
        </p:nvSpPr>
        <p:spPr>
          <a:xfrm>
            <a:off x="868680" y="4069080"/>
            <a:ext cx="73152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EDGE — INTENT (NOW)</a:t>
            </a:r>
            <a:endParaRPr lang="en-US" sz="1200" dirty="0"/>
          </a:p>
        </p:txBody>
      </p:sp>
      <p:sp>
        <p:nvSpPr>
          <p:cNvPr id="21" name="Text 19"/>
          <p:cNvSpPr/>
          <p:nvPr/>
        </p:nvSpPr>
        <p:spPr>
          <a:xfrm>
            <a:off x="914400" y="4480560"/>
            <a:ext cx="4846320" cy="1463040"/>
          </a:xfrm>
          <a:prstGeom prst="rect">
            <a:avLst/>
          </a:prstGeom>
          <a:noFill/>
          <a:ln/>
        </p:spPr>
        <p:txBody>
          <a:bodyPr wrap="square" lIns="0" tIns="0" rIns="0" bIns="0" rtlCol="0" anchor="ctr"/>
          <a:lstStyle/>
          <a:p>
            <a:pPr marL="342900" indent="-342900">
              <a:lnSpc>
                <a:spcPct val="125000"/>
              </a:lnSpc>
              <a:buSzPct val="100000"/>
              <a:buChar char="•"/>
            </a:pPr>
            <a:r>
              <a:rPr lang="en-US" sz="1500" dirty="0">
                <a:solidFill>
                  <a:srgbClr val="0F172A"/>
                </a:solidFill>
                <a:latin typeface="Calibri" pitchFamily="34" charset="0"/>
                <a:ea typeface="Calibri" pitchFamily="34" charset="-122"/>
                <a:cs typeface="Calibri" pitchFamily="34" charset="-120"/>
              </a:rPr>
              <a:t>Tool / MCP gateway</a:t>
            </a:r>
            <a:endParaRPr lang="en-US" sz="1500" dirty="0"/>
          </a:p>
          <a:p>
            <a:pPr marL="342900" indent="-342900">
              <a:lnSpc>
                <a:spcPct val="125000"/>
              </a:lnSpc>
              <a:buSzPct val="100000"/>
              <a:buChar char="•"/>
            </a:pPr>
            <a:r>
              <a:rPr lang="en-US" sz="1500" dirty="0">
                <a:solidFill>
                  <a:srgbClr val="0F172A"/>
                </a:solidFill>
                <a:latin typeface="Calibri" pitchFamily="34" charset="0"/>
                <a:ea typeface="Calibri" pitchFamily="34" charset="-122"/>
                <a:cs typeface="Calibri" pitchFamily="34" charset="-120"/>
              </a:rPr>
              <a:t>Command broker (run --)</a:t>
            </a:r>
            <a:endParaRPr lang="en-US" sz="1500" dirty="0"/>
          </a:p>
          <a:p>
            <a:pPr marL="342900" indent="-342900">
              <a:lnSpc>
                <a:spcPct val="125000"/>
              </a:lnSpc>
              <a:buSzPct val="100000"/>
              <a:buChar char="•"/>
            </a:pPr>
            <a:r>
              <a:rPr lang="en-US" sz="1500" dirty="0">
                <a:solidFill>
                  <a:srgbClr val="0F172A"/>
                </a:solidFill>
                <a:latin typeface="Calibri" pitchFamily="34" charset="0"/>
                <a:ea typeface="Calibri" pitchFamily="34" charset="-122"/>
                <a:cs typeface="Calibri" pitchFamily="34" charset="-120"/>
              </a:rPr>
              <a:t>LLM proxy — the “why” (later)</a:t>
            </a:r>
            <a:endParaRPr lang="en-US" sz="1500" dirty="0"/>
          </a:p>
        </p:txBody>
      </p:sp>
      <p:sp>
        <p:nvSpPr>
          <p:cNvPr id="22" name="Shape 20"/>
          <p:cNvSpPr/>
          <p:nvPr/>
        </p:nvSpPr>
        <p:spPr>
          <a:xfrm>
            <a:off x="6172200" y="3840480"/>
            <a:ext cx="5440680" cy="2286000"/>
          </a:xfrm>
          <a:prstGeom prst="roundRect">
            <a:avLst>
              <a:gd name="adj" fmla="val 3200"/>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23" name="Text 21"/>
          <p:cNvSpPr/>
          <p:nvPr/>
        </p:nvSpPr>
        <p:spPr>
          <a:xfrm>
            <a:off x="6492240" y="4069080"/>
            <a:ext cx="7315200" cy="274320"/>
          </a:xfrm>
          <a:prstGeom prst="rect">
            <a:avLst/>
          </a:prstGeom>
          <a:noFill/>
          <a:ln/>
        </p:spPr>
        <p:txBody>
          <a:bodyPr wrap="square" lIns="0" tIns="0" rIns="0" bIns="0" rtlCol="0" anchor="ctr"/>
          <a:lstStyle/>
          <a:p>
            <a:pPr indent="0" marL="0">
              <a:buNone/>
            </a:pPr>
            <a:r>
              <a:rPr lang="en-US" sz="1200" b="1" spc="300" kern="0" dirty="0">
                <a:solidFill>
                  <a:srgbClr val="475569"/>
                </a:solidFill>
                <a:latin typeface="Calibri" pitchFamily="34" charset="0"/>
                <a:ea typeface="Calibri" pitchFamily="34" charset="-122"/>
                <a:cs typeface="Calibri" pitchFamily="34" charset="-120"/>
              </a:rPr>
              <a:t>EDGE — EFFECT (LATER)</a:t>
            </a:r>
            <a:endParaRPr lang="en-US" sz="1200" dirty="0"/>
          </a:p>
        </p:txBody>
      </p:sp>
      <p:sp>
        <p:nvSpPr>
          <p:cNvPr id="24" name="Text 22"/>
          <p:cNvSpPr/>
          <p:nvPr/>
        </p:nvSpPr>
        <p:spPr>
          <a:xfrm>
            <a:off x="6537960" y="4480560"/>
            <a:ext cx="4846320" cy="1463040"/>
          </a:xfrm>
          <a:prstGeom prst="rect">
            <a:avLst/>
          </a:prstGeom>
          <a:noFill/>
          <a:ln/>
        </p:spPr>
        <p:txBody>
          <a:bodyPr wrap="square" lIns="0" tIns="0" rIns="0" bIns="0" rtlCol="0" anchor="ctr"/>
          <a:lstStyle/>
          <a:p>
            <a:pPr marL="342900" indent="-342900">
              <a:lnSpc>
                <a:spcPct val="125000"/>
              </a:lnSpc>
              <a:buSzPct val="100000"/>
              <a:buChar char="•"/>
            </a:pPr>
            <a:r>
              <a:rPr lang="en-US" sz="1500" dirty="0">
                <a:solidFill>
                  <a:srgbClr val="0F172A"/>
                </a:solidFill>
                <a:latin typeface="Calibri" pitchFamily="34" charset="0"/>
                <a:ea typeface="Calibri" pitchFamily="34" charset="-122"/>
                <a:cs typeface="Calibri" pitchFamily="34" charset="-120"/>
              </a:rPr>
              <a:t>OS interception: exec · socket · file</a:t>
            </a:r>
            <a:endParaRPr lang="en-US" sz="1500" dirty="0"/>
          </a:p>
          <a:p>
            <a:pPr marL="342900" indent="-342900">
              <a:lnSpc>
                <a:spcPct val="125000"/>
              </a:lnSpc>
              <a:buSzPct val="100000"/>
              <a:buChar char="•"/>
            </a:pPr>
            <a:r>
              <a:rPr lang="en-US" sz="1500" dirty="0">
                <a:solidFill>
                  <a:srgbClr val="0F172A"/>
                </a:solidFill>
                <a:latin typeface="Calibri" pitchFamily="34" charset="0"/>
                <a:ea typeface="Calibri" pitchFamily="34" charset="-122"/>
                <a:cs typeface="Calibri" pitchFamily="34" charset="-120"/>
              </a:rPr>
              <a:t>Binary trust registry</a:t>
            </a:r>
            <a:endParaRPr lang="en-US" sz="1500" dirty="0"/>
          </a:p>
          <a:p>
            <a:pPr marL="342900" indent="-342900">
              <a:lnSpc>
                <a:spcPct val="125000"/>
              </a:lnSpc>
              <a:buSzPct val="100000"/>
              <a:buChar char="•"/>
            </a:pPr>
            <a:r>
              <a:rPr lang="en-US" sz="1500" dirty="0">
                <a:solidFill>
                  <a:srgbClr val="0F172A"/>
                </a:solidFill>
                <a:latin typeface="Calibri" pitchFamily="34" charset="0"/>
                <a:ea typeface="Calibri" pitchFamily="34" charset="-122"/>
                <a:cs typeface="Calibri" pitchFamily="34" charset="-120"/>
              </a:rPr>
              <a:t>eBPF (Linux) / ES (macOS)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The wedge — what we build first</a:t>
            </a:r>
            <a:endParaRPr lang="en-US" sz="3000" dirty="0"/>
          </a:p>
        </p:txBody>
      </p:sp>
      <p:sp>
        <p:nvSpPr>
          <p:cNvPr id="4" name="Text 2"/>
          <p:cNvSpPr/>
          <p:nvPr/>
        </p:nvSpPr>
        <p:spPr>
          <a:xfrm>
            <a:off x="548640" y="1207008"/>
            <a:ext cx="73152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POLICY-BY-DEMONSTRATION LOOP · INTENT LAYER · ON MAC</a:t>
            </a:r>
            <a:endParaRPr lang="en-US" sz="1200" dirty="0"/>
          </a:p>
        </p:txBody>
      </p:sp>
      <p:sp>
        <p:nvSpPr>
          <p:cNvPr id="5" name="Shape 3"/>
          <p:cNvSpPr/>
          <p:nvPr/>
        </p:nvSpPr>
        <p:spPr>
          <a:xfrm>
            <a:off x="640080" y="1600200"/>
            <a:ext cx="457200" cy="457200"/>
          </a:xfrm>
          <a:prstGeom prst="ellipse">
            <a:avLst/>
          </a:prstGeom>
          <a:solidFill>
            <a:srgbClr val="0D9488"/>
          </a:solidFill>
          <a:ln/>
        </p:spPr>
      </p:sp>
      <p:sp>
        <p:nvSpPr>
          <p:cNvPr id="6" name="Text 4"/>
          <p:cNvSpPr/>
          <p:nvPr/>
        </p:nvSpPr>
        <p:spPr>
          <a:xfrm>
            <a:off x="640080" y="1600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280160" y="1563624"/>
            <a:ext cx="6858000" cy="566928"/>
          </a:xfrm>
          <a:prstGeom prst="rect">
            <a:avLst/>
          </a:prstGeom>
          <a:noFill/>
          <a:ln/>
        </p:spPr>
        <p:txBody>
          <a:bodyPr wrap="square" lIns="0" tIns="0" rIns="0" bIns="0" rtlCol="0" anchor="ctr"/>
          <a:lstStyle/>
          <a:p>
            <a:pPr indent="0" marL="0">
              <a:lnSpc>
                <a:spcPct val="100000"/>
              </a:lnSpc>
              <a:buNone/>
            </a:pPr>
            <a:r>
              <a:rPr lang="en-US" sz="1450" b="1" dirty="0">
                <a:solidFill>
                  <a:srgbClr val="0F172A"/>
                </a:solidFill>
                <a:latin typeface="Calibri" pitchFamily="34" charset="0"/>
                <a:ea typeface="Calibri" pitchFamily="34" charset="-122"/>
                <a:cs typeface="Calibri" pitchFamily="34" charset="-120"/>
              </a:rPr>
              <a:t>Unify intent capture  </a:t>
            </a:r>
            <a:pPr indent="0" marL="0">
              <a:lnSpc>
                <a:spcPct val="100000"/>
              </a:lnSpc>
              <a:buNone/>
            </a:pPr>
            <a:r>
              <a:rPr lang="en-US" sz="1450" dirty="0">
                <a:solidFill>
                  <a:srgbClr val="64748B"/>
                </a:solidFill>
                <a:latin typeface="Calibri" pitchFamily="34" charset="0"/>
                <a:ea typeface="Calibri" pitchFamily="34" charset="-122"/>
                <a:cs typeface="Calibri" pitchFamily="34" charset="-120"/>
              </a:rPr>
              <a:t>— one run = one ordered action flow (reuse command capture; un-archive the MCP proxy)</a:t>
            </a:r>
            <a:endParaRPr lang="en-US" sz="1450" dirty="0"/>
          </a:p>
        </p:txBody>
      </p:sp>
      <p:sp>
        <p:nvSpPr>
          <p:cNvPr id="8" name="Shape 6"/>
          <p:cNvSpPr/>
          <p:nvPr/>
        </p:nvSpPr>
        <p:spPr>
          <a:xfrm>
            <a:off x="640080" y="2441448"/>
            <a:ext cx="457200" cy="457200"/>
          </a:xfrm>
          <a:prstGeom prst="ellipse">
            <a:avLst/>
          </a:prstGeom>
          <a:solidFill>
            <a:srgbClr val="0D9488"/>
          </a:solidFill>
          <a:ln/>
        </p:spPr>
      </p:sp>
      <p:sp>
        <p:nvSpPr>
          <p:cNvPr id="9" name="Text 7"/>
          <p:cNvSpPr/>
          <p:nvPr/>
        </p:nvSpPr>
        <p:spPr>
          <a:xfrm>
            <a:off x="640080" y="24414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280160" y="2404872"/>
            <a:ext cx="6858000" cy="566928"/>
          </a:xfrm>
          <a:prstGeom prst="rect">
            <a:avLst/>
          </a:prstGeom>
          <a:noFill/>
          <a:ln/>
        </p:spPr>
        <p:txBody>
          <a:bodyPr wrap="square" lIns="0" tIns="0" rIns="0" bIns="0" rtlCol="0" anchor="ctr"/>
          <a:lstStyle/>
          <a:p>
            <a:pPr indent="0" marL="0">
              <a:lnSpc>
                <a:spcPct val="100000"/>
              </a:lnSpc>
              <a:buNone/>
            </a:pPr>
            <a:r>
              <a:rPr lang="en-US" sz="1450" b="1" dirty="0">
                <a:solidFill>
                  <a:srgbClr val="0F172A"/>
                </a:solidFill>
                <a:latin typeface="Calibri" pitchFamily="34" charset="0"/>
                <a:ea typeface="Calibri" pitchFamily="34" charset="-122"/>
                <a:cs typeface="Calibri" pitchFamily="34" charset="-120"/>
              </a:rPr>
              <a:t>Review UX  </a:t>
            </a:r>
            <a:pPr indent="0" marL="0">
              <a:lnSpc>
                <a:spcPct val="100000"/>
              </a:lnSpc>
              <a:buNone/>
            </a:pPr>
            <a:r>
              <a:rPr lang="en-US" sz="1450" dirty="0">
                <a:solidFill>
                  <a:srgbClr val="64748B"/>
                </a:solidFill>
                <a:latin typeface="Calibri" pitchFamily="34" charset="0"/>
                <a:ea typeface="Calibri" pitchFamily="34" charset="-122"/>
                <a:cs typeface="Calibri" pitchFamily="34" charset="-120"/>
              </a:rPr>
              <a:t>— the clickable allow / block timeline</a:t>
            </a:r>
            <a:endParaRPr lang="en-US" sz="1450" dirty="0"/>
          </a:p>
        </p:txBody>
      </p:sp>
      <p:sp>
        <p:nvSpPr>
          <p:cNvPr id="11" name="Shape 9"/>
          <p:cNvSpPr/>
          <p:nvPr/>
        </p:nvSpPr>
        <p:spPr>
          <a:xfrm>
            <a:off x="640080" y="3282696"/>
            <a:ext cx="457200" cy="457200"/>
          </a:xfrm>
          <a:prstGeom prst="ellipse">
            <a:avLst/>
          </a:prstGeom>
          <a:solidFill>
            <a:srgbClr val="0D9488"/>
          </a:solidFill>
          <a:ln/>
        </p:spPr>
      </p:sp>
      <p:sp>
        <p:nvSpPr>
          <p:cNvPr id="12" name="Text 10"/>
          <p:cNvSpPr/>
          <p:nvPr/>
        </p:nvSpPr>
        <p:spPr>
          <a:xfrm>
            <a:off x="640080" y="32826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280160" y="3246120"/>
            <a:ext cx="6858000" cy="566928"/>
          </a:xfrm>
          <a:prstGeom prst="rect">
            <a:avLst/>
          </a:prstGeom>
          <a:noFill/>
          <a:ln/>
        </p:spPr>
        <p:txBody>
          <a:bodyPr wrap="square" lIns="0" tIns="0" rIns="0" bIns="0" rtlCol="0" anchor="ctr"/>
          <a:lstStyle/>
          <a:p>
            <a:pPr indent="0" marL="0">
              <a:lnSpc>
                <a:spcPct val="100000"/>
              </a:lnSpc>
              <a:buNone/>
            </a:pPr>
            <a:r>
              <a:rPr lang="en-US" sz="1450" b="1" dirty="0">
                <a:solidFill>
                  <a:srgbClr val="0F172A"/>
                </a:solidFill>
                <a:latin typeface="Calibri" pitchFamily="34" charset="0"/>
                <a:ea typeface="Calibri" pitchFamily="34" charset="-122"/>
                <a:cs typeface="Calibri" pitchFamily="34" charset="-120"/>
              </a:rPr>
              <a:t>Recommender  </a:t>
            </a:r>
            <a:pPr indent="0" marL="0">
              <a:lnSpc>
                <a:spcPct val="100000"/>
              </a:lnSpc>
              <a:buNone/>
            </a:pPr>
            <a:r>
              <a:rPr lang="en-US" sz="1450" dirty="0">
                <a:solidFill>
                  <a:srgbClr val="64748B"/>
                </a:solidFill>
                <a:latin typeface="Calibri" pitchFamily="34" charset="0"/>
                <a:ea typeface="Calibri" pitchFamily="34" charset="-122"/>
                <a:cs typeface="Calibri" pitchFamily="34" charset="-120"/>
              </a:rPr>
              <a:t>— AI drafts rules with reasons from the human's choices</a:t>
            </a:r>
            <a:endParaRPr lang="en-US" sz="1450" dirty="0"/>
          </a:p>
        </p:txBody>
      </p:sp>
      <p:sp>
        <p:nvSpPr>
          <p:cNvPr id="14" name="Shape 12"/>
          <p:cNvSpPr/>
          <p:nvPr/>
        </p:nvSpPr>
        <p:spPr>
          <a:xfrm>
            <a:off x="640080" y="4123944"/>
            <a:ext cx="457200" cy="457200"/>
          </a:xfrm>
          <a:prstGeom prst="ellipse">
            <a:avLst/>
          </a:prstGeom>
          <a:solidFill>
            <a:srgbClr val="0D9488"/>
          </a:solidFill>
          <a:ln/>
        </p:spPr>
      </p:sp>
      <p:sp>
        <p:nvSpPr>
          <p:cNvPr id="15" name="Text 13"/>
          <p:cNvSpPr/>
          <p:nvPr/>
        </p:nvSpPr>
        <p:spPr>
          <a:xfrm>
            <a:off x="640080" y="4123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280160" y="4087368"/>
            <a:ext cx="6858000" cy="566928"/>
          </a:xfrm>
          <a:prstGeom prst="rect">
            <a:avLst/>
          </a:prstGeom>
          <a:noFill/>
          <a:ln/>
        </p:spPr>
        <p:txBody>
          <a:bodyPr wrap="square" lIns="0" tIns="0" rIns="0" bIns="0" rtlCol="0" anchor="ctr"/>
          <a:lstStyle/>
          <a:p>
            <a:pPr indent="0" marL="0">
              <a:lnSpc>
                <a:spcPct val="100000"/>
              </a:lnSpc>
              <a:buNone/>
            </a:pPr>
            <a:r>
              <a:rPr lang="en-US" sz="1450" b="1" dirty="0">
                <a:solidFill>
                  <a:srgbClr val="0F172A"/>
                </a:solidFill>
                <a:latin typeface="Calibri" pitchFamily="34" charset="0"/>
                <a:ea typeface="Calibri" pitchFamily="34" charset="-122"/>
                <a:cs typeface="Calibri" pitchFamily="34" charset="-120"/>
              </a:rPr>
              <a:t>Enforcement  </a:t>
            </a:r>
            <a:pPr indent="0" marL="0">
              <a:lnSpc>
                <a:spcPct val="100000"/>
              </a:lnSpc>
              <a:buNone/>
            </a:pPr>
            <a:r>
              <a:rPr lang="en-US" sz="1450" dirty="0">
                <a:solidFill>
                  <a:srgbClr val="64748B"/>
                </a:solidFill>
                <a:latin typeface="Calibri" pitchFamily="34" charset="0"/>
                <a:ea typeface="Calibri" pitchFamily="34" charset="-122"/>
                <a:cs typeface="Calibri" pitchFamily="34" charset="-120"/>
              </a:rPr>
              <a:t>— observe → alert → block on the next run; close the loop</a:t>
            </a:r>
            <a:endParaRPr lang="en-US" sz="1450" dirty="0"/>
          </a:p>
        </p:txBody>
      </p:sp>
      <p:sp>
        <p:nvSpPr>
          <p:cNvPr id="17" name="Shape 15"/>
          <p:cNvSpPr/>
          <p:nvPr/>
        </p:nvSpPr>
        <p:spPr>
          <a:xfrm>
            <a:off x="640080" y="4965192"/>
            <a:ext cx="457200" cy="457200"/>
          </a:xfrm>
          <a:prstGeom prst="ellipse">
            <a:avLst/>
          </a:prstGeom>
          <a:solidFill>
            <a:srgbClr val="0D9488"/>
          </a:solidFill>
          <a:ln/>
        </p:spPr>
      </p:sp>
      <p:sp>
        <p:nvSpPr>
          <p:cNvPr id="18" name="Text 16"/>
          <p:cNvSpPr/>
          <p:nvPr/>
        </p:nvSpPr>
        <p:spPr>
          <a:xfrm>
            <a:off x="640080" y="49651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280160" y="4928616"/>
            <a:ext cx="6858000" cy="566928"/>
          </a:xfrm>
          <a:prstGeom prst="rect">
            <a:avLst/>
          </a:prstGeom>
          <a:noFill/>
          <a:ln/>
        </p:spPr>
        <p:txBody>
          <a:bodyPr wrap="square" lIns="0" tIns="0" rIns="0" bIns="0" rtlCol="0" anchor="ctr"/>
          <a:lstStyle/>
          <a:p>
            <a:pPr indent="0" marL="0">
              <a:lnSpc>
                <a:spcPct val="100000"/>
              </a:lnSpc>
              <a:buNone/>
            </a:pPr>
            <a:r>
              <a:rPr lang="en-US" sz="1450" b="1" dirty="0">
                <a:solidFill>
                  <a:srgbClr val="0F172A"/>
                </a:solidFill>
                <a:latin typeface="Calibri" pitchFamily="34" charset="0"/>
                <a:ea typeface="Calibri" pitchFamily="34" charset="-122"/>
                <a:cs typeface="Calibri" pitchFamily="34" charset="-120"/>
              </a:rPr>
              <a:t>Design partners  </a:t>
            </a:r>
            <a:pPr indent="0" marL="0">
              <a:lnSpc>
                <a:spcPct val="100000"/>
              </a:lnSpc>
              <a:buNone/>
            </a:pPr>
            <a:r>
              <a:rPr lang="en-US" sz="1450" dirty="0">
                <a:solidFill>
                  <a:srgbClr val="64748B"/>
                </a:solidFill>
                <a:latin typeface="Calibri" pitchFamily="34" charset="0"/>
                <a:ea typeface="Calibri" pitchFamily="34" charset="-122"/>
                <a:cs typeface="Calibri" pitchFamily="34" charset="-120"/>
              </a:rPr>
              <a:t>— real agents, real feedback, harden the loop</a:t>
            </a:r>
            <a:endParaRPr lang="en-US" sz="1450" dirty="0"/>
          </a:p>
        </p:txBody>
      </p:sp>
      <p:sp>
        <p:nvSpPr>
          <p:cNvPr id="20" name="Shape 18"/>
          <p:cNvSpPr/>
          <p:nvPr/>
        </p:nvSpPr>
        <p:spPr>
          <a:xfrm>
            <a:off x="8458200" y="1554480"/>
            <a:ext cx="3154680" cy="4160520"/>
          </a:xfrm>
          <a:prstGeom prst="roundRect">
            <a:avLst>
              <a:gd name="adj" fmla="val 2319"/>
            </a:avLst>
          </a:prstGeom>
          <a:solidFill>
            <a:srgbClr val="0B1437"/>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21" name="Text 19"/>
          <p:cNvSpPr/>
          <p:nvPr/>
        </p:nvSpPr>
        <p:spPr>
          <a:xfrm>
            <a:off x="8732520" y="1783080"/>
            <a:ext cx="2651760" cy="320040"/>
          </a:xfrm>
          <a:prstGeom prst="rect">
            <a:avLst/>
          </a:prstGeom>
          <a:noFill/>
          <a:ln/>
        </p:spPr>
        <p:txBody>
          <a:bodyPr wrap="square" lIns="0" tIns="0" rIns="0" bIns="0" rtlCol="0" anchor="ctr"/>
          <a:lstStyle/>
          <a:p>
            <a:pPr indent="0" marL="0">
              <a:buNone/>
            </a:pPr>
            <a:r>
              <a:rPr lang="en-US" sz="1200" b="1" spc="200" kern="0" dirty="0">
                <a:solidFill>
                  <a:srgbClr val="F59E0B"/>
                </a:solidFill>
                <a:latin typeface="Calibri" pitchFamily="34" charset="0"/>
                <a:ea typeface="Calibri" pitchFamily="34" charset="-122"/>
                <a:cs typeface="Calibri" pitchFamily="34" charset="-120"/>
              </a:rPr>
              <a:t>DELIBERATELY NOT YET</a:t>
            </a:r>
            <a:endParaRPr lang="en-US" sz="1200" dirty="0"/>
          </a:p>
        </p:txBody>
      </p:sp>
      <p:sp>
        <p:nvSpPr>
          <p:cNvPr id="22" name="Text 20"/>
          <p:cNvSpPr/>
          <p:nvPr/>
        </p:nvSpPr>
        <p:spPr>
          <a:xfrm>
            <a:off x="8778240" y="2240280"/>
            <a:ext cx="2606040" cy="3291840"/>
          </a:xfrm>
          <a:prstGeom prst="rect">
            <a:avLst/>
          </a:prstGeom>
          <a:noFill/>
          <a:ln/>
        </p:spPr>
        <p:txBody>
          <a:bodyPr wrap="square" lIns="0" tIns="0" rIns="0" bIns="0" rtlCol="0" anchor="ctr"/>
          <a:lstStyle/>
          <a:p>
            <a:pPr marL="342900" indent="-342900">
              <a:lnSpc>
                <a:spcPct val="130000"/>
              </a:lnSpc>
              <a:buSzPct val="100000"/>
              <a:buChar char="•"/>
            </a:pPr>
            <a:r>
              <a:rPr lang="en-US" sz="1400" dirty="0">
                <a:solidFill>
                  <a:srgbClr val="CBD5E1"/>
                </a:solidFill>
                <a:latin typeface="Calibri" pitchFamily="34" charset="0"/>
                <a:ea typeface="Calibri" pitchFamily="34" charset="-122"/>
                <a:cs typeface="Calibri" pitchFamily="34" charset="-120"/>
              </a:rPr>
              <a:t>OS / eBPF interception</a:t>
            </a:r>
            <a:endParaRPr lang="en-US" sz="1400" dirty="0"/>
          </a:p>
          <a:p>
            <a:pPr marL="342900" indent="-342900">
              <a:lnSpc>
                <a:spcPct val="130000"/>
              </a:lnSpc>
              <a:buSzPct val="100000"/>
              <a:buChar char="•"/>
            </a:pPr>
            <a:r>
              <a:rPr lang="en-US" sz="1400" dirty="0">
                <a:solidFill>
                  <a:srgbClr val="CBD5E1"/>
                </a:solidFill>
                <a:latin typeface="Calibri" pitchFamily="34" charset="0"/>
                <a:ea typeface="Calibri" pitchFamily="34" charset="-122"/>
                <a:cs typeface="Calibri" pitchFamily="34" charset="-120"/>
              </a:rPr>
              <a:t>Binary trust registry</a:t>
            </a:r>
            <a:endParaRPr lang="en-US" sz="1400" dirty="0"/>
          </a:p>
          <a:p>
            <a:pPr marL="342900" indent="-342900">
              <a:lnSpc>
                <a:spcPct val="130000"/>
              </a:lnSpc>
              <a:buSzPct val="100000"/>
              <a:buChar char="•"/>
            </a:pPr>
            <a:r>
              <a:rPr lang="en-US" sz="1400" dirty="0">
                <a:solidFill>
                  <a:srgbClr val="CBD5E1"/>
                </a:solidFill>
                <a:latin typeface="Calibri" pitchFamily="34" charset="0"/>
                <a:ea typeface="Calibri" pitchFamily="34" charset="-122"/>
                <a:cs typeface="Calibri" pitchFamily="34" charset="-120"/>
              </a:rPr>
              <a:t>LLM proxy</a:t>
            </a:r>
            <a:endParaRPr lang="en-US" sz="1400" dirty="0"/>
          </a:p>
          <a:p>
            <a:pPr marL="342900" indent="-342900">
              <a:lnSpc>
                <a:spcPct val="130000"/>
              </a:lnSpc>
              <a:buSzPct val="100000"/>
              <a:buChar char="•"/>
            </a:pPr>
            <a:r>
              <a:rPr lang="en-US" sz="1400" dirty="0">
                <a:solidFill>
                  <a:srgbClr val="CBD5E1"/>
                </a:solidFill>
                <a:latin typeface="Calibri" pitchFamily="34" charset="0"/>
                <a:ea typeface="Calibri" pitchFamily="34" charset="-122"/>
                <a:cs typeface="Calibri" pitchFamily="34" charset="-120"/>
              </a:rPr>
              <a:t>Reconciliation engine</a:t>
            </a:r>
            <a:endParaRPr lang="en-US" sz="1400" dirty="0"/>
          </a:p>
          <a:p>
            <a:pPr marL="342900" indent="-342900">
              <a:lnSpc>
                <a:spcPct val="130000"/>
              </a:lnSpc>
              <a:buSzPct val="100000"/>
              <a:buChar char="•"/>
            </a:pPr>
            <a:r>
              <a:rPr lang="en-US" sz="1400" dirty="0">
                <a:solidFill>
                  <a:srgbClr val="CBD5E1"/>
                </a:solidFill>
                <a:latin typeface="Calibri" pitchFamily="34" charset="0"/>
                <a:ea typeface="Calibri" pitchFamily="34" charset="-122"/>
                <a:cs typeface="Calibri" pitchFamily="34" charset="-120"/>
              </a:rPr>
              <a:t>SSO / SOC2 / multi-tenant</a:t>
            </a:r>
            <a:endParaRPr lang="en-US" sz="1400" dirty="0"/>
          </a:p>
          <a:p>
            <a:pPr marL="342900" indent="-342900">
              <a:lnSpc>
                <a:spcPct val="130000"/>
              </a:lnSpc>
              <a:buSzPct val="100000"/>
              <a:buChar char="•"/>
            </a:pPr>
            <a:r>
              <a:rPr lang="en-US" sz="1400" dirty="0">
                <a:solidFill>
                  <a:srgbClr val="CBD5E1"/>
                </a:solidFill>
                <a:latin typeface="Calibri" pitchFamily="34" charset="0"/>
                <a:ea typeface="Calibri" pitchFamily="34" charset="-122"/>
                <a:cs typeface="Calibri" pitchFamily="34" charset="-120"/>
              </a:rPr>
              <a:t>Signed attestations · SIEM</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This year's destination</a:t>
            </a:r>
            <a:endParaRPr lang="en-US" sz="3000" dirty="0"/>
          </a:p>
        </p:txBody>
      </p:sp>
      <p:sp>
        <p:nvSpPr>
          <p:cNvPr id="4" name="Text 2"/>
          <p:cNvSpPr/>
          <p:nvPr/>
        </p:nvSpPr>
        <p:spPr>
          <a:xfrm>
            <a:off x="548640" y="1207008"/>
            <a:ext cx="73152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12 MONTHS OUT · WINNING LOOKS LIKE</a:t>
            </a:r>
            <a:endParaRPr lang="en-US" sz="1200" dirty="0"/>
          </a:p>
        </p:txBody>
      </p:sp>
      <p:sp>
        <p:nvSpPr>
          <p:cNvPr id="5" name="Shape 3"/>
          <p:cNvSpPr/>
          <p:nvPr/>
        </p:nvSpPr>
        <p:spPr>
          <a:xfrm>
            <a:off x="640080" y="1709928"/>
            <a:ext cx="384048" cy="384048"/>
          </a:xfrm>
          <a:prstGeom prst="ellipse">
            <a:avLst/>
          </a:prstGeom>
          <a:solidFill>
            <a:srgbClr val="0D9488"/>
          </a:solidFill>
          <a:ln/>
        </p:spPr>
      </p:sp>
      <p:sp>
        <p:nvSpPr>
          <p:cNvPr id="6" name="Text 4"/>
          <p:cNvSpPr/>
          <p:nvPr/>
        </p:nvSpPr>
        <p:spPr>
          <a:xfrm>
            <a:off x="640080" y="170992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234440" y="1691640"/>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The hero loop works end-to-end on Mac — demoable in one sitting.</a:t>
            </a:r>
            <a:endParaRPr lang="en-US" sz="1550" dirty="0"/>
          </a:p>
        </p:txBody>
      </p:sp>
      <p:sp>
        <p:nvSpPr>
          <p:cNvPr id="8" name="Shape 6"/>
          <p:cNvSpPr/>
          <p:nvPr/>
        </p:nvSpPr>
        <p:spPr>
          <a:xfrm>
            <a:off x="640080" y="2551176"/>
            <a:ext cx="384048" cy="384048"/>
          </a:xfrm>
          <a:prstGeom prst="ellipse">
            <a:avLst/>
          </a:prstGeom>
          <a:solidFill>
            <a:srgbClr val="0D9488"/>
          </a:solidFill>
          <a:ln/>
        </p:spPr>
      </p:sp>
      <p:sp>
        <p:nvSpPr>
          <p:cNvPr id="9" name="Text 7"/>
          <p:cNvSpPr/>
          <p:nvPr/>
        </p:nvSpPr>
        <p:spPr>
          <a:xfrm>
            <a:off x="640080" y="255117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1234440" y="2532888"/>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A handful of design partners run real agents through it — and have let us block a real risky action.</a:t>
            </a:r>
            <a:endParaRPr lang="en-US" sz="1550" dirty="0"/>
          </a:p>
        </p:txBody>
      </p:sp>
      <p:sp>
        <p:nvSpPr>
          <p:cNvPr id="11" name="Shape 9"/>
          <p:cNvSpPr/>
          <p:nvPr/>
        </p:nvSpPr>
        <p:spPr>
          <a:xfrm>
            <a:off x="640080" y="3392424"/>
            <a:ext cx="384048" cy="384048"/>
          </a:xfrm>
          <a:prstGeom prst="ellipse">
            <a:avLst/>
          </a:prstGeom>
          <a:solidFill>
            <a:srgbClr val="0D9488"/>
          </a:solidFill>
          <a:ln/>
        </p:spPr>
      </p:sp>
      <p:sp>
        <p:nvSpPr>
          <p:cNvPr id="12" name="Text 10"/>
          <p:cNvSpPr/>
          <p:nvPr/>
        </p:nvSpPr>
        <p:spPr>
          <a:xfrm>
            <a:off x="640080" y="339242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1234440" y="3374136"/>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The ground-truth layer has begun: “untrusted binary” is real, not aspirational.</a:t>
            </a:r>
            <a:endParaRPr lang="en-US" sz="1550" dirty="0"/>
          </a:p>
        </p:txBody>
      </p:sp>
      <p:sp>
        <p:nvSpPr>
          <p:cNvPr id="14" name="Shape 12"/>
          <p:cNvSpPr/>
          <p:nvPr/>
        </p:nvSpPr>
        <p:spPr>
          <a:xfrm>
            <a:off x="640080" y="4233672"/>
            <a:ext cx="384048" cy="384048"/>
          </a:xfrm>
          <a:prstGeom prst="ellipse">
            <a:avLst/>
          </a:prstGeom>
          <a:solidFill>
            <a:srgbClr val="0D9488"/>
          </a:solidFill>
          <a:ln/>
        </p:spPr>
      </p:sp>
      <p:sp>
        <p:nvSpPr>
          <p:cNvPr id="15" name="Text 13"/>
          <p:cNvSpPr/>
          <p:nvPr/>
        </p:nvSpPr>
        <p:spPr>
          <a:xfrm>
            <a:off x="640080" y="42336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1234440" y="4215384"/>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Recommendation quality is good enough that partners trust suggestions more than they rewrite them.</a:t>
            </a:r>
            <a:endParaRPr lang="en-US" sz="1550" dirty="0"/>
          </a:p>
        </p:txBody>
      </p:sp>
      <p:sp>
        <p:nvSpPr>
          <p:cNvPr id="17" name="Shape 15"/>
          <p:cNvSpPr/>
          <p:nvPr/>
        </p:nvSpPr>
        <p:spPr>
          <a:xfrm>
            <a:off x="640080" y="5074920"/>
            <a:ext cx="384048" cy="384048"/>
          </a:xfrm>
          <a:prstGeom prst="ellipse">
            <a:avLst/>
          </a:prstGeom>
          <a:solidFill>
            <a:srgbClr val="0D9488"/>
          </a:solidFill>
          <a:ln/>
        </p:spPr>
      </p:sp>
      <p:sp>
        <p:nvSpPr>
          <p:cNvPr id="18" name="Text 16"/>
          <p:cNvSpPr/>
          <p:nvPr/>
        </p:nvSpPr>
        <p:spPr>
          <a:xfrm>
            <a:off x="640080" y="50749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1234440" y="5056632"/>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The narrative is sharp: “agent control plane / policy by demonstration” gets repeated back to us.</a:t>
            </a:r>
            <a:endParaRPr lang="en-US" sz="1550" dirty="0"/>
          </a:p>
        </p:txBody>
      </p:sp>
      <p:sp>
        <p:nvSpPr>
          <p:cNvPr id="20" name="Text 18"/>
          <p:cNvSpPr/>
          <p:nvPr/>
        </p:nvSpPr>
        <p:spPr>
          <a:xfrm>
            <a:off x="640080" y="5989320"/>
            <a:ext cx="10972800" cy="45720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Not this year: full enterprise hardening, multi-cloud, SSO/SOC2 at scale, the reconciliation engine finished, or adversarial-agent containment.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437"/>
        </a:solidFill>
      </p:bgPr>
    </p:bg>
    <p:spTree>
      <p:nvGrpSpPr>
        <p:cNvPr id="1" name=""/>
        <p:cNvGrpSpPr/>
        <p:nvPr/>
      </p:nvGrpSpPr>
      <p:grpSpPr>
        <a:xfrm>
          <a:off x="0" y="0"/>
          <a:ext cx="0" cy="0"/>
          <a:chOff x="0" y="0"/>
          <a:chExt cx="0" cy="0"/>
        </a:xfrm>
      </p:grpSpPr>
      <p:sp>
        <p:nvSpPr>
          <p:cNvPr id="2" name="Text 0"/>
          <p:cNvSpPr/>
          <p:nvPr/>
        </p:nvSpPr>
        <p:spPr>
          <a:xfrm>
            <a:off x="640080" y="777240"/>
            <a:ext cx="7315200" cy="274320"/>
          </a:xfrm>
          <a:prstGeom prst="rect">
            <a:avLst/>
          </a:prstGeom>
          <a:noFill/>
          <a:ln/>
        </p:spPr>
        <p:txBody>
          <a:bodyPr wrap="square" lIns="0" tIns="0" rIns="0" bIns="0" rtlCol="0" anchor="ctr"/>
          <a:lstStyle/>
          <a:p>
            <a:pPr indent="0" marL="0">
              <a:buNone/>
            </a:pPr>
            <a:r>
              <a:rPr lang="en-US" sz="1200" b="1" spc="300" kern="0" dirty="0">
                <a:solidFill>
                  <a:srgbClr val="5EEAD4"/>
                </a:solidFill>
                <a:latin typeface="Calibri" pitchFamily="34" charset="0"/>
                <a:ea typeface="Calibri" pitchFamily="34" charset="-122"/>
                <a:cs typeface="Calibri" pitchFamily="34" charset="-120"/>
              </a:rPr>
              <a:t>OUR NORTH STAR METRIC</a:t>
            </a:r>
            <a:endParaRPr lang="en-US" sz="1200" dirty="0"/>
          </a:p>
        </p:txBody>
      </p:sp>
      <p:sp>
        <p:nvSpPr>
          <p:cNvPr id="3" name="Text 1"/>
          <p:cNvSpPr/>
          <p:nvPr/>
        </p:nvSpPr>
        <p:spPr>
          <a:xfrm>
            <a:off x="640080" y="1280160"/>
            <a:ext cx="10972800" cy="82296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Trusted Autonomy Rate</a:t>
            </a:r>
            <a:endParaRPr lang="en-US" sz="4400" dirty="0"/>
          </a:p>
        </p:txBody>
      </p:sp>
      <p:sp>
        <p:nvSpPr>
          <p:cNvPr id="4" name="Text 2"/>
          <p:cNvSpPr/>
          <p:nvPr/>
        </p:nvSpPr>
        <p:spPr>
          <a:xfrm>
            <a:off x="640080" y="2240280"/>
            <a:ext cx="10789920" cy="1188720"/>
          </a:xfrm>
          <a:prstGeom prst="rect">
            <a:avLst/>
          </a:prstGeom>
          <a:noFill/>
          <a:ln/>
        </p:spPr>
        <p:txBody>
          <a:bodyPr wrap="square" lIns="0" tIns="0" rIns="0" bIns="0" rtlCol="0" anchor="ctr"/>
          <a:lstStyle/>
          <a:p>
            <a:pPr indent="0" marL="0">
              <a:lnSpc>
                <a:spcPct val="110000"/>
              </a:lnSpc>
              <a:buNone/>
            </a:pPr>
            <a:r>
              <a:rPr lang="en-US" sz="2200" i="1" dirty="0">
                <a:solidFill>
                  <a:srgbClr val="CBD5E1"/>
                </a:solidFill>
                <a:latin typeface="Georgia" pitchFamily="34" charset="0"/>
                <a:ea typeface="Georgia" pitchFamily="34" charset="-122"/>
                <a:cs typeface="Georgia" pitchFamily="34" charset="-120"/>
              </a:rPr>
              <a:t>The share of an agent's actions that execute </a:t>
            </a:r>
            <a:pPr indent="0" marL="0">
              <a:lnSpc>
                <a:spcPct val="110000"/>
              </a:lnSpc>
              <a:buNone/>
            </a:pPr>
            <a:r>
              <a:rPr lang="en-US" sz="2200" b="1" i="1" dirty="0">
                <a:solidFill>
                  <a:srgbClr val="5EEAD4"/>
                </a:solidFill>
                <a:latin typeface="Georgia" pitchFamily="34" charset="0"/>
                <a:ea typeface="Georgia" pitchFamily="34" charset="-122"/>
                <a:cs typeface="Georgia" pitchFamily="34" charset="-120"/>
              </a:rPr>
              <a:t>without human pre-approval because policy already covers them</a:t>
            </a:r>
            <a:pPr indent="0" marL="0">
              <a:lnSpc>
                <a:spcPct val="110000"/>
              </a:lnSpc>
              <a:buNone/>
            </a:pPr>
            <a:r>
              <a:rPr lang="en-US" sz="2200" i="1" dirty="0">
                <a:solidFill>
                  <a:srgbClr val="CBD5E1"/>
                </a:solidFill>
                <a:latin typeface="Georgia" pitchFamily="34" charset="0"/>
                <a:ea typeface="Georgia" pitchFamily="34" charset="-122"/>
                <a:cs typeface="Georgia" pitchFamily="34" charset="-120"/>
              </a:rPr>
              <a:t> — while remaining fully recorded and reversible.</a:t>
            </a:r>
            <a:endParaRPr lang="en-US" sz="2200" dirty="0"/>
          </a:p>
        </p:txBody>
      </p:sp>
      <p:sp>
        <p:nvSpPr>
          <p:cNvPr id="5" name="Text 3"/>
          <p:cNvSpPr/>
          <p:nvPr/>
        </p:nvSpPr>
        <p:spPr>
          <a:xfrm>
            <a:off x="640080" y="3611880"/>
            <a:ext cx="10789920" cy="1097280"/>
          </a:xfrm>
          <a:prstGeom prst="rect">
            <a:avLst/>
          </a:prstGeom>
          <a:noFill/>
          <a:ln/>
        </p:spPr>
        <p:txBody>
          <a:bodyPr wrap="square" lIns="0" tIns="0" rIns="0" bIns="0" rtlCol="0" anchor="ctr"/>
          <a:lstStyle/>
          <a:p>
            <a:pPr indent="0" marL="0">
              <a:lnSpc>
                <a:spcPct val="112000"/>
              </a:lnSpc>
              <a:buNone/>
            </a:pPr>
            <a:r>
              <a:rPr lang="en-US" sz="1550" dirty="0">
                <a:solidFill>
                  <a:srgbClr val="94A3B8"/>
                </a:solidFill>
                <a:latin typeface="Calibri" pitchFamily="34" charset="0"/>
                <a:ea typeface="Calibri" pitchFamily="34" charset="-122"/>
                <a:cs typeface="Calibri" pitchFamily="34" charset="-120"/>
              </a:rPr>
              <a:t>It rises only when both halves work: the agent is doing useful work, AND the demonstration loop has taught enough policy to safely get out of the way. Pure logging can't move it (no autonomy). Pure automation can't move it safely (no trust).</a:t>
            </a:r>
            <a:endParaRPr lang="en-US" sz="1550" dirty="0"/>
          </a:p>
        </p:txBody>
      </p:sp>
      <p:sp>
        <p:nvSpPr>
          <p:cNvPr id="6" name="Shape 4"/>
          <p:cNvSpPr/>
          <p:nvPr/>
        </p:nvSpPr>
        <p:spPr>
          <a:xfrm>
            <a:off x="640080" y="5074920"/>
            <a:ext cx="2606040" cy="868680"/>
          </a:xfrm>
          <a:prstGeom prst="roundRect">
            <a:avLst>
              <a:gd name="adj" fmla="val 8421"/>
            </a:avLst>
          </a:prstGeom>
          <a:solidFill>
            <a:srgbClr val="1E293B"/>
          </a:solidFill>
          <a:ln w="12700">
            <a:solidFill>
              <a:srgbClr val="0D9488"/>
            </a:solidFill>
            <a:prstDash val="solid"/>
          </a:ln>
        </p:spPr>
      </p:sp>
      <p:sp>
        <p:nvSpPr>
          <p:cNvPr id="7" name="Text 5"/>
          <p:cNvSpPr/>
          <p:nvPr/>
        </p:nvSpPr>
        <p:spPr>
          <a:xfrm>
            <a:off x="777240" y="5074920"/>
            <a:ext cx="2331720" cy="868680"/>
          </a:xfrm>
          <a:prstGeom prst="rect">
            <a:avLst/>
          </a:prstGeom>
          <a:noFill/>
          <a:ln/>
        </p:spPr>
        <p:txBody>
          <a:bodyPr wrap="square" lIns="0" tIns="0" rIns="0" bIns="0" rtlCol="0" anchor="ctr"/>
          <a:lstStyle/>
          <a:p>
            <a:pPr algn="ctr" indent="0" marL="0">
              <a:lnSpc>
                <a:spcPct val="100000"/>
              </a:lnSpc>
              <a:buNone/>
            </a:pPr>
            <a:r>
              <a:rPr lang="en-US" sz="1300" dirty="0">
                <a:solidFill>
                  <a:srgbClr val="FFFFFF"/>
                </a:solidFill>
                <a:latin typeface="Calibri" pitchFamily="34" charset="0"/>
                <a:ea typeface="Calibri" pitchFamily="34" charset="-122"/>
                <a:cs typeface="Calibri" pitchFamily="34" charset="-120"/>
              </a:rPr>
              <a:t>time-to-first-blocked-action</a:t>
            </a:r>
            <a:endParaRPr lang="en-US" sz="1300" dirty="0"/>
          </a:p>
        </p:txBody>
      </p:sp>
      <p:sp>
        <p:nvSpPr>
          <p:cNvPr id="8" name="Shape 6"/>
          <p:cNvSpPr/>
          <p:nvPr/>
        </p:nvSpPr>
        <p:spPr>
          <a:xfrm>
            <a:off x="3419856" y="5074920"/>
            <a:ext cx="2606040" cy="868680"/>
          </a:xfrm>
          <a:prstGeom prst="roundRect">
            <a:avLst>
              <a:gd name="adj" fmla="val 8421"/>
            </a:avLst>
          </a:prstGeom>
          <a:solidFill>
            <a:srgbClr val="1E293B"/>
          </a:solidFill>
          <a:ln w="12700">
            <a:solidFill>
              <a:srgbClr val="0D9488"/>
            </a:solidFill>
            <a:prstDash val="solid"/>
          </a:ln>
        </p:spPr>
      </p:sp>
      <p:sp>
        <p:nvSpPr>
          <p:cNvPr id="9" name="Text 7"/>
          <p:cNvSpPr/>
          <p:nvPr/>
        </p:nvSpPr>
        <p:spPr>
          <a:xfrm>
            <a:off x="3557016" y="5074920"/>
            <a:ext cx="2331720" cy="868680"/>
          </a:xfrm>
          <a:prstGeom prst="rect">
            <a:avLst/>
          </a:prstGeom>
          <a:noFill/>
          <a:ln/>
        </p:spPr>
        <p:txBody>
          <a:bodyPr wrap="square" lIns="0" tIns="0" rIns="0" bIns="0" rtlCol="0" anchor="ctr"/>
          <a:lstStyle/>
          <a:p>
            <a:pPr algn="ctr" indent="0" marL="0">
              <a:lnSpc>
                <a:spcPct val="100000"/>
              </a:lnSpc>
              <a:buNone/>
            </a:pPr>
            <a:r>
              <a:rPr lang="en-US" sz="1300" dirty="0">
                <a:solidFill>
                  <a:srgbClr val="FFFFFF"/>
                </a:solidFill>
                <a:latin typeface="Calibri" pitchFamily="34" charset="0"/>
                <a:ea typeface="Calibri" pitchFamily="34" charset="-122"/>
                <a:cs typeface="Calibri" pitchFamily="34" charset="-120"/>
              </a:rPr>
              <a:t>recommendation acceptance rate</a:t>
            </a:r>
            <a:endParaRPr lang="en-US" sz="1300" dirty="0"/>
          </a:p>
        </p:txBody>
      </p:sp>
      <p:sp>
        <p:nvSpPr>
          <p:cNvPr id="10" name="Shape 8"/>
          <p:cNvSpPr/>
          <p:nvPr/>
        </p:nvSpPr>
        <p:spPr>
          <a:xfrm>
            <a:off x="6199632" y="5074920"/>
            <a:ext cx="2606040" cy="868680"/>
          </a:xfrm>
          <a:prstGeom prst="roundRect">
            <a:avLst>
              <a:gd name="adj" fmla="val 8421"/>
            </a:avLst>
          </a:prstGeom>
          <a:solidFill>
            <a:srgbClr val="1E293B"/>
          </a:solidFill>
          <a:ln w="12700">
            <a:solidFill>
              <a:srgbClr val="0D9488"/>
            </a:solidFill>
            <a:prstDash val="solid"/>
          </a:ln>
        </p:spPr>
      </p:sp>
      <p:sp>
        <p:nvSpPr>
          <p:cNvPr id="11" name="Text 9"/>
          <p:cNvSpPr/>
          <p:nvPr/>
        </p:nvSpPr>
        <p:spPr>
          <a:xfrm>
            <a:off x="6336792" y="5074920"/>
            <a:ext cx="2331720" cy="868680"/>
          </a:xfrm>
          <a:prstGeom prst="rect">
            <a:avLst/>
          </a:prstGeom>
          <a:noFill/>
          <a:ln/>
        </p:spPr>
        <p:txBody>
          <a:bodyPr wrap="square" lIns="0" tIns="0" rIns="0" bIns="0" rtlCol="0" anchor="ctr"/>
          <a:lstStyle/>
          <a:p>
            <a:pPr algn="ctr" indent="0" marL="0">
              <a:lnSpc>
                <a:spcPct val="100000"/>
              </a:lnSpc>
              <a:buNone/>
            </a:pPr>
            <a:r>
              <a:rPr lang="en-US" sz="1300" dirty="0">
                <a:solidFill>
                  <a:srgbClr val="FFFFFF"/>
                </a:solidFill>
                <a:latin typeface="Calibri" pitchFamily="34" charset="0"/>
                <a:ea typeface="Calibri" pitchFamily="34" charset="-122"/>
                <a:cs typeface="Calibri" pitchFamily="34" charset="-120"/>
              </a:rPr>
              <a:t>% actions captured (coverage)</a:t>
            </a:r>
            <a:endParaRPr lang="en-US" sz="1300" dirty="0"/>
          </a:p>
        </p:txBody>
      </p:sp>
      <p:sp>
        <p:nvSpPr>
          <p:cNvPr id="12" name="Shape 10"/>
          <p:cNvSpPr/>
          <p:nvPr/>
        </p:nvSpPr>
        <p:spPr>
          <a:xfrm>
            <a:off x="8979408" y="5074920"/>
            <a:ext cx="2606040" cy="868680"/>
          </a:xfrm>
          <a:prstGeom prst="roundRect">
            <a:avLst>
              <a:gd name="adj" fmla="val 8421"/>
            </a:avLst>
          </a:prstGeom>
          <a:solidFill>
            <a:srgbClr val="1E293B"/>
          </a:solidFill>
          <a:ln w="12700">
            <a:solidFill>
              <a:srgbClr val="0D9488"/>
            </a:solidFill>
            <a:prstDash val="solid"/>
          </a:ln>
        </p:spPr>
      </p:sp>
      <p:sp>
        <p:nvSpPr>
          <p:cNvPr id="13" name="Text 11"/>
          <p:cNvSpPr/>
          <p:nvPr/>
        </p:nvSpPr>
        <p:spPr>
          <a:xfrm>
            <a:off x="9116568" y="5074920"/>
            <a:ext cx="2331720" cy="868680"/>
          </a:xfrm>
          <a:prstGeom prst="rect">
            <a:avLst/>
          </a:prstGeom>
          <a:noFill/>
          <a:ln/>
        </p:spPr>
        <p:txBody>
          <a:bodyPr wrap="square" lIns="0" tIns="0" rIns="0" bIns="0" rtlCol="0" anchor="ctr"/>
          <a:lstStyle/>
          <a:p>
            <a:pPr algn="ctr" indent="0" marL="0">
              <a:lnSpc>
                <a:spcPct val="100000"/>
              </a:lnSpc>
              <a:buNone/>
            </a:pPr>
            <a:r>
              <a:rPr lang="en-US" sz="1300" dirty="0">
                <a:solidFill>
                  <a:srgbClr val="FFFFFF"/>
                </a:solidFill>
                <a:latin typeface="Calibri" pitchFamily="34" charset="0"/>
                <a:ea typeface="Calibri" pitchFamily="34" charset="-122"/>
                <a:cs typeface="Calibri" pitchFamily="34" charset="-120"/>
              </a:rPr>
              <a:t>design-partner retention</a:t>
            </a:r>
            <a:endParaRPr lang="en-US" sz="1300" dirty="0"/>
          </a:p>
        </p:txBody>
      </p:sp>
      <p:sp>
        <p:nvSpPr>
          <p:cNvPr id="14" name="Text 12"/>
          <p:cNvSpPr/>
          <p:nvPr/>
        </p:nvSpPr>
        <p:spPr>
          <a:xfrm>
            <a:off x="640080" y="6126480"/>
            <a:ext cx="5486400" cy="27432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supporting signals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Principles — non-negotiables</a:t>
            </a:r>
            <a:endParaRPr lang="en-US" sz="3000" dirty="0"/>
          </a:p>
        </p:txBody>
      </p:sp>
      <p:sp>
        <p:nvSpPr>
          <p:cNvPr id="4" name="Shape 2"/>
          <p:cNvSpPr/>
          <p:nvPr/>
        </p:nvSpPr>
        <p:spPr>
          <a:xfrm>
            <a:off x="548640" y="1463040"/>
            <a:ext cx="544068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5" name="Shape 3"/>
          <p:cNvSpPr/>
          <p:nvPr/>
        </p:nvSpPr>
        <p:spPr>
          <a:xfrm>
            <a:off x="548640" y="1463040"/>
            <a:ext cx="128016" cy="1371600"/>
          </a:xfrm>
          <a:prstGeom prst="rect">
            <a:avLst/>
          </a:prstGeom>
          <a:solidFill>
            <a:srgbClr val="0D9488"/>
          </a:solidFill>
          <a:ln/>
        </p:spPr>
      </p:sp>
      <p:sp>
        <p:nvSpPr>
          <p:cNvPr id="6" name="Text 4"/>
          <p:cNvSpPr/>
          <p:nvPr/>
        </p:nvSpPr>
        <p:spPr>
          <a:xfrm>
            <a:off x="914400" y="1645920"/>
            <a:ext cx="4892040" cy="41148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Sell the experience, not the engine</a:t>
            </a:r>
            <a:endParaRPr lang="en-US" sz="1700" dirty="0"/>
          </a:p>
        </p:txBody>
      </p:sp>
      <p:sp>
        <p:nvSpPr>
          <p:cNvPr id="7" name="Text 5"/>
          <p:cNvSpPr/>
          <p:nvPr/>
        </p:nvSpPr>
        <p:spPr>
          <a:xfrm>
            <a:off x="914400" y="2084832"/>
            <a:ext cx="4892040" cy="658368"/>
          </a:xfrm>
          <a:prstGeom prst="rect">
            <a:avLst/>
          </a:prstGeom>
          <a:noFill/>
          <a:ln/>
        </p:spPr>
        <p:txBody>
          <a:bodyPr wrap="square" lIns="0" tIns="0" rIns="0" bIns="0" rtlCol="0" anchor="ctr"/>
          <a:lstStyle/>
          <a:p>
            <a:pPr indent="0" marL="0">
              <a:lnSpc>
                <a:spcPct val="105000"/>
              </a:lnSpc>
              <a:buNone/>
            </a:pPr>
            <a:r>
              <a:rPr lang="en-US" sz="1350" dirty="0">
                <a:solidFill>
                  <a:srgbClr val="64748B"/>
                </a:solidFill>
                <a:latin typeface="Calibri" pitchFamily="34" charset="0"/>
                <a:ea typeface="Calibri" pitchFamily="34" charset="-122"/>
                <a:cs typeface="Calibri" pitchFamily="34" charset="-120"/>
              </a:rPr>
              <a:t>The policy engine is a hidden commodity. Users never write Rego.</a:t>
            </a:r>
            <a:endParaRPr lang="en-US" sz="1350" dirty="0"/>
          </a:p>
        </p:txBody>
      </p:sp>
      <p:sp>
        <p:nvSpPr>
          <p:cNvPr id="8" name="Shape 6"/>
          <p:cNvSpPr/>
          <p:nvPr/>
        </p:nvSpPr>
        <p:spPr>
          <a:xfrm>
            <a:off x="6172200" y="1463040"/>
            <a:ext cx="544068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9" name="Shape 7"/>
          <p:cNvSpPr/>
          <p:nvPr/>
        </p:nvSpPr>
        <p:spPr>
          <a:xfrm>
            <a:off x="6172200" y="1463040"/>
            <a:ext cx="128016" cy="1371600"/>
          </a:xfrm>
          <a:prstGeom prst="rect">
            <a:avLst/>
          </a:prstGeom>
          <a:solidFill>
            <a:srgbClr val="0D9488"/>
          </a:solidFill>
          <a:ln/>
        </p:spPr>
      </p:sp>
      <p:sp>
        <p:nvSpPr>
          <p:cNvPr id="10" name="Text 8"/>
          <p:cNvSpPr/>
          <p:nvPr/>
        </p:nvSpPr>
        <p:spPr>
          <a:xfrm>
            <a:off x="6537960" y="1645920"/>
            <a:ext cx="4892040" cy="41148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Keep the spine small</a:t>
            </a:r>
            <a:endParaRPr lang="en-US" sz="1700" dirty="0"/>
          </a:p>
        </p:txBody>
      </p:sp>
      <p:sp>
        <p:nvSpPr>
          <p:cNvPr id="11" name="Text 9"/>
          <p:cNvSpPr/>
          <p:nvPr/>
        </p:nvSpPr>
        <p:spPr>
          <a:xfrm>
            <a:off x="6537960" y="2084832"/>
            <a:ext cx="4892040" cy="658368"/>
          </a:xfrm>
          <a:prstGeom prst="rect">
            <a:avLst/>
          </a:prstGeom>
          <a:noFill/>
          <a:ln/>
        </p:spPr>
        <p:txBody>
          <a:bodyPr wrap="square" lIns="0" tIns="0" rIns="0" bIns="0" rtlCol="0" anchor="ctr"/>
          <a:lstStyle/>
          <a:p>
            <a:pPr indent="0" marL="0">
              <a:lnSpc>
                <a:spcPct val="105000"/>
              </a:lnSpc>
              <a:buNone/>
            </a:pPr>
            <a:r>
              <a:rPr lang="en-US" sz="1350" dirty="0">
                <a:solidFill>
                  <a:srgbClr val="64748B"/>
                </a:solidFill>
                <a:latin typeface="Calibri" pitchFamily="34" charset="0"/>
                <a:ea typeface="Calibri" pitchFamily="34" charset="-122"/>
                <a:cs typeface="Calibri" pitchFamily="34" charset="-120"/>
              </a:rPr>
              <a:t>Everything new is a pluggable, trust-tagged collector. Resist the bloat.</a:t>
            </a:r>
            <a:endParaRPr lang="en-US" sz="1350" dirty="0"/>
          </a:p>
        </p:txBody>
      </p:sp>
      <p:sp>
        <p:nvSpPr>
          <p:cNvPr id="12" name="Shape 10"/>
          <p:cNvSpPr/>
          <p:nvPr/>
        </p:nvSpPr>
        <p:spPr>
          <a:xfrm>
            <a:off x="548640" y="3017520"/>
            <a:ext cx="544068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13" name="Shape 11"/>
          <p:cNvSpPr/>
          <p:nvPr/>
        </p:nvSpPr>
        <p:spPr>
          <a:xfrm>
            <a:off x="548640" y="3017520"/>
            <a:ext cx="128016" cy="1371600"/>
          </a:xfrm>
          <a:prstGeom prst="rect">
            <a:avLst/>
          </a:prstGeom>
          <a:solidFill>
            <a:srgbClr val="0D9488"/>
          </a:solidFill>
          <a:ln/>
        </p:spPr>
      </p:sp>
      <p:sp>
        <p:nvSpPr>
          <p:cNvPr id="14" name="Text 12"/>
          <p:cNvSpPr/>
          <p:nvPr/>
        </p:nvSpPr>
        <p:spPr>
          <a:xfrm>
            <a:off x="914400" y="3200400"/>
            <a:ext cx="4892040" cy="41148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Honest, bounded claims</a:t>
            </a:r>
            <a:endParaRPr lang="en-US" sz="1700" dirty="0"/>
          </a:p>
        </p:txBody>
      </p:sp>
      <p:sp>
        <p:nvSpPr>
          <p:cNvPr id="15" name="Text 13"/>
          <p:cNvSpPr/>
          <p:nvPr/>
        </p:nvSpPr>
        <p:spPr>
          <a:xfrm>
            <a:off x="914400" y="3639312"/>
            <a:ext cx="4892040" cy="658368"/>
          </a:xfrm>
          <a:prstGeom prst="rect">
            <a:avLst/>
          </a:prstGeom>
          <a:noFill/>
          <a:ln/>
        </p:spPr>
        <p:txBody>
          <a:bodyPr wrap="square" lIns="0" tIns="0" rIns="0" bIns="0" rtlCol="0" anchor="ctr"/>
          <a:lstStyle/>
          <a:p>
            <a:pPr indent="0" marL="0">
              <a:lnSpc>
                <a:spcPct val="105000"/>
              </a:lnSpc>
              <a:buNone/>
            </a:pPr>
            <a:r>
              <a:rPr lang="en-US" sz="1350" dirty="0">
                <a:solidFill>
                  <a:srgbClr val="64748B"/>
                </a:solidFill>
                <a:latin typeface="Calibri" pitchFamily="34" charset="0"/>
                <a:ea typeface="Calibri" pitchFamily="34" charset="-122"/>
                <a:cs typeface="Calibri" pitchFamily="34" charset="-120"/>
              </a:rPr>
              <a:t>“Brokered actions gated; un-brokered detected.” Never “tamper-proof.”</a:t>
            </a:r>
            <a:endParaRPr lang="en-US" sz="1350" dirty="0"/>
          </a:p>
        </p:txBody>
      </p:sp>
      <p:sp>
        <p:nvSpPr>
          <p:cNvPr id="16" name="Shape 14"/>
          <p:cNvSpPr/>
          <p:nvPr/>
        </p:nvSpPr>
        <p:spPr>
          <a:xfrm>
            <a:off x="6172200" y="3017520"/>
            <a:ext cx="544068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17" name="Shape 15"/>
          <p:cNvSpPr/>
          <p:nvPr/>
        </p:nvSpPr>
        <p:spPr>
          <a:xfrm>
            <a:off x="6172200" y="3017520"/>
            <a:ext cx="128016" cy="1371600"/>
          </a:xfrm>
          <a:prstGeom prst="rect">
            <a:avLst/>
          </a:prstGeom>
          <a:solidFill>
            <a:srgbClr val="0D9488"/>
          </a:solidFill>
          <a:ln/>
        </p:spPr>
      </p:sp>
      <p:sp>
        <p:nvSpPr>
          <p:cNvPr id="18" name="Text 16"/>
          <p:cNvSpPr/>
          <p:nvPr/>
        </p:nvSpPr>
        <p:spPr>
          <a:xfrm>
            <a:off x="6537960" y="3200400"/>
            <a:ext cx="4892040" cy="41148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Observe → alert → block</a:t>
            </a:r>
            <a:endParaRPr lang="en-US" sz="1700" dirty="0"/>
          </a:p>
        </p:txBody>
      </p:sp>
      <p:sp>
        <p:nvSpPr>
          <p:cNvPr id="19" name="Text 17"/>
          <p:cNvSpPr/>
          <p:nvPr/>
        </p:nvSpPr>
        <p:spPr>
          <a:xfrm>
            <a:off x="6537960" y="3639312"/>
            <a:ext cx="4892040" cy="658368"/>
          </a:xfrm>
          <a:prstGeom prst="rect">
            <a:avLst/>
          </a:prstGeom>
          <a:noFill/>
          <a:ln/>
        </p:spPr>
        <p:txBody>
          <a:bodyPr wrap="square" lIns="0" tIns="0" rIns="0" bIns="0" rtlCol="0" anchor="ctr"/>
          <a:lstStyle/>
          <a:p>
            <a:pPr indent="0" marL="0">
              <a:lnSpc>
                <a:spcPct val="105000"/>
              </a:lnSpc>
              <a:buNone/>
            </a:pPr>
            <a:r>
              <a:rPr lang="en-US" sz="1350" dirty="0">
                <a:solidFill>
                  <a:srgbClr val="64748B"/>
                </a:solidFill>
                <a:latin typeface="Calibri" pitchFamily="34" charset="0"/>
                <a:ea typeface="Calibri" pitchFamily="34" charset="-122"/>
                <a:cs typeface="Calibri" pitchFamily="34" charset="-120"/>
              </a:rPr>
              <a:t>Earn the right to block. Breaking real work on day one gets us ripped out.</a:t>
            </a:r>
            <a:endParaRPr lang="en-US" sz="1350" dirty="0"/>
          </a:p>
        </p:txBody>
      </p:sp>
      <p:sp>
        <p:nvSpPr>
          <p:cNvPr id="20" name="Shape 18"/>
          <p:cNvSpPr/>
          <p:nvPr/>
        </p:nvSpPr>
        <p:spPr>
          <a:xfrm>
            <a:off x="548640" y="4572000"/>
            <a:ext cx="544068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21" name="Shape 19"/>
          <p:cNvSpPr/>
          <p:nvPr/>
        </p:nvSpPr>
        <p:spPr>
          <a:xfrm>
            <a:off x="548640" y="4572000"/>
            <a:ext cx="128016" cy="1371600"/>
          </a:xfrm>
          <a:prstGeom prst="rect">
            <a:avLst/>
          </a:prstGeom>
          <a:solidFill>
            <a:srgbClr val="0D9488"/>
          </a:solidFill>
          <a:ln/>
        </p:spPr>
      </p:sp>
      <p:sp>
        <p:nvSpPr>
          <p:cNvPr id="22" name="Text 20"/>
          <p:cNvSpPr/>
          <p:nvPr/>
        </p:nvSpPr>
        <p:spPr>
          <a:xfrm>
            <a:off x="914400" y="4754880"/>
            <a:ext cx="4892040" cy="41148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Leverage, don't rebuild</a:t>
            </a:r>
            <a:endParaRPr lang="en-US" sz="1700" dirty="0"/>
          </a:p>
        </p:txBody>
      </p:sp>
      <p:sp>
        <p:nvSpPr>
          <p:cNvPr id="23" name="Text 21"/>
          <p:cNvSpPr/>
          <p:nvPr/>
        </p:nvSpPr>
        <p:spPr>
          <a:xfrm>
            <a:off x="914400" y="5193792"/>
            <a:ext cx="4892040" cy="658368"/>
          </a:xfrm>
          <a:prstGeom prst="rect">
            <a:avLst/>
          </a:prstGeom>
          <a:noFill/>
          <a:ln/>
        </p:spPr>
        <p:txBody>
          <a:bodyPr wrap="square" lIns="0" tIns="0" rIns="0" bIns="0" rtlCol="0" anchor="ctr"/>
          <a:lstStyle/>
          <a:p>
            <a:pPr indent="0" marL="0">
              <a:lnSpc>
                <a:spcPct val="105000"/>
              </a:lnSpc>
              <a:buNone/>
            </a:pPr>
            <a:r>
              <a:rPr lang="en-US" sz="1350" dirty="0">
                <a:solidFill>
                  <a:srgbClr val="64748B"/>
                </a:solidFill>
                <a:latin typeface="Calibri" pitchFamily="34" charset="0"/>
                <a:ea typeface="Calibri" pitchFamily="34" charset="-122"/>
                <a:cs typeface="Calibri" pitchFamily="34" charset="-120"/>
              </a:rPr>
              <a:t>No reimplementing eBPF or a policy engine. The moat is elsewhere.</a:t>
            </a:r>
            <a:endParaRPr lang="en-US" sz="1350" dirty="0"/>
          </a:p>
        </p:txBody>
      </p:sp>
      <p:sp>
        <p:nvSpPr>
          <p:cNvPr id="24" name="Shape 22"/>
          <p:cNvSpPr/>
          <p:nvPr/>
        </p:nvSpPr>
        <p:spPr>
          <a:xfrm>
            <a:off x="6172200" y="4572000"/>
            <a:ext cx="544068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25" name="Shape 23"/>
          <p:cNvSpPr/>
          <p:nvPr/>
        </p:nvSpPr>
        <p:spPr>
          <a:xfrm>
            <a:off x="6172200" y="4572000"/>
            <a:ext cx="128016" cy="1371600"/>
          </a:xfrm>
          <a:prstGeom prst="rect">
            <a:avLst/>
          </a:prstGeom>
          <a:solidFill>
            <a:srgbClr val="0D9488"/>
          </a:solidFill>
          <a:ln/>
        </p:spPr>
      </p:sp>
      <p:sp>
        <p:nvSpPr>
          <p:cNvPr id="26" name="Text 24"/>
          <p:cNvSpPr/>
          <p:nvPr/>
        </p:nvSpPr>
        <p:spPr>
          <a:xfrm>
            <a:off x="6537960" y="4754880"/>
            <a:ext cx="4892040" cy="41148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The boundary, not the brain</a:t>
            </a:r>
            <a:endParaRPr lang="en-US" sz="1700" dirty="0"/>
          </a:p>
        </p:txBody>
      </p:sp>
      <p:sp>
        <p:nvSpPr>
          <p:cNvPr id="27" name="Text 25"/>
          <p:cNvSpPr/>
          <p:nvPr/>
        </p:nvSpPr>
        <p:spPr>
          <a:xfrm>
            <a:off x="6537960" y="5193792"/>
            <a:ext cx="4892040" cy="658368"/>
          </a:xfrm>
          <a:prstGeom prst="rect">
            <a:avLst/>
          </a:prstGeom>
          <a:noFill/>
          <a:ln/>
        </p:spPr>
        <p:txBody>
          <a:bodyPr wrap="square" lIns="0" tIns="0" rIns="0" bIns="0" rtlCol="0" anchor="ctr"/>
          <a:lstStyle/>
          <a:p>
            <a:pPr indent="0" marL="0">
              <a:lnSpc>
                <a:spcPct val="105000"/>
              </a:lnSpc>
              <a:buNone/>
            </a:pPr>
            <a:r>
              <a:rPr lang="en-US" sz="1350" dirty="0">
                <a:solidFill>
                  <a:srgbClr val="64748B"/>
                </a:solidFill>
                <a:latin typeface="Calibri" pitchFamily="34" charset="0"/>
                <a:ea typeface="Calibri" pitchFamily="34" charset="-122"/>
                <a:cs typeface="Calibri" pitchFamily="34" charset="-120"/>
              </a:rPr>
              <a:t>Govern actions that touch real systems, not the model's every thought.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The moat</a:t>
            </a:r>
            <a:endParaRPr lang="en-US" sz="3000" dirty="0"/>
          </a:p>
        </p:txBody>
      </p:sp>
      <p:sp>
        <p:nvSpPr>
          <p:cNvPr id="4" name="Text 2"/>
          <p:cNvSpPr/>
          <p:nvPr/>
        </p:nvSpPr>
        <p:spPr>
          <a:xfrm>
            <a:off x="548640" y="1234440"/>
            <a:ext cx="11064240" cy="54864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Not any single proxy or syscall hook — those are commodities. Our defensibility is what compounds with usage.</a:t>
            </a:r>
            <a:endParaRPr lang="en-US" sz="1600" dirty="0"/>
          </a:p>
        </p:txBody>
      </p:sp>
      <p:sp>
        <p:nvSpPr>
          <p:cNvPr id="5" name="Shape 3"/>
          <p:cNvSpPr/>
          <p:nvPr/>
        </p:nvSpPr>
        <p:spPr>
          <a:xfrm>
            <a:off x="548640" y="2103120"/>
            <a:ext cx="5440680" cy="3108960"/>
          </a:xfrm>
          <a:prstGeom prst="roundRect">
            <a:avLst>
              <a:gd name="adj" fmla="val 2353"/>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6" name="Shape 4"/>
          <p:cNvSpPr/>
          <p:nvPr/>
        </p:nvSpPr>
        <p:spPr>
          <a:xfrm>
            <a:off x="548640" y="2103120"/>
            <a:ext cx="5440680" cy="128016"/>
          </a:xfrm>
          <a:prstGeom prst="rect">
            <a:avLst/>
          </a:prstGeom>
          <a:solidFill>
            <a:srgbClr val="0D9488"/>
          </a:solidFill>
          <a:ln/>
        </p:spPr>
      </p:sp>
      <p:sp>
        <p:nvSpPr>
          <p:cNvPr id="7" name="Text 5"/>
          <p:cNvSpPr/>
          <p:nvPr/>
        </p:nvSpPr>
        <p:spPr>
          <a:xfrm>
            <a:off x="914400" y="2423160"/>
            <a:ext cx="4754880" cy="548640"/>
          </a:xfrm>
          <a:prstGeom prst="rect">
            <a:avLst/>
          </a:prstGeom>
          <a:noFill/>
          <a:ln/>
        </p:spPr>
        <p:txBody>
          <a:bodyPr wrap="square" lIns="0" tIns="0" rIns="0" bIns="0" rtlCol="0" anchor="ctr"/>
          <a:lstStyle/>
          <a:p>
            <a:pPr indent="0" marL="0">
              <a:buNone/>
            </a:pPr>
            <a:r>
              <a:rPr lang="en-US" sz="2200" b="1" dirty="0">
                <a:solidFill>
                  <a:srgbClr val="0F172A"/>
                </a:solidFill>
                <a:latin typeface="Georgia" pitchFamily="34" charset="0"/>
                <a:ea typeface="Georgia" pitchFamily="34" charset="-122"/>
                <a:cs typeface="Georgia" pitchFamily="34" charset="-120"/>
              </a:rPr>
              <a:t>The unified record</a:t>
            </a:r>
            <a:endParaRPr lang="en-US" sz="2200" dirty="0"/>
          </a:p>
        </p:txBody>
      </p:sp>
      <p:sp>
        <p:nvSpPr>
          <p:cNvPr id="8" name="Text 6"/>
          <p:cNvSpPr/>
          <p:nvPr/>
        </p:nvSpPr>
        <p:spPr>
          <a:xfrm>
            <a:off x="914400" y="3108960"/>
            <a:ext cx="4754880" cy="1828800"/>
          </a:xfrm>
          <a:prstGeom prst="rect">
            <a:avLst/>
          </a:prstGeom>
          <a:noFill/>
          <a:ln/>
        </p:spPr>
        <p:txBody>
          <a:bodyPr wrap="square" lIns="0" tIns="0" rIns="0" bIns="0" rtlCol="0" anchor="ctr"/>
          <a:lstStyle/>
          <a:p>
            <a:pPr indent="0" marL="0">
              <a:lnSpc>
                <a:spcPct val="115000"/>
              </a:lnSpc>
              <a:buNone/>
            </a:pPr>
            <a:r>
              <a:rPr lang="en-US" sz="1550" dirty="0">
                <a:solidFill>
                  <a:srgbClr val="64748B"/>
                </a:solidFill>
                <a:latin typeface="Calibri" pitchFamily="34" charset="0"/>
                <a:ea typeface="Calibri" pitchFamily="34" charset="-122"/>
                <a:cs typeface="Calibri" pitchFamily="34" charset="-120"/>
              </a:rPr>
              <a:t>A tamper-evident, cross-layer causal trace of what an agent actually did — the substrate nobody else has.</a:t>
            </a:r>
            <a:endParaRPr lang="en-US" sz="1550" dirty="0"/>
          </a:p>
        </p:txBody>
      </p:sp>
      <p:sp>
        <p:nvSpPr>
          <p:cNvPr id="9" name="Shape 7"/>
          <p:cNvSpPr/>
          <p:nvPr/>
        </p:nvSpPr>
        <p:spPr>
          <a:xfrm>
            <a:off x="6172200" y="2103120"/>
            <a:ext cx="5440680" cy="3108960"/>
          </a:xfrm>
          <a:prstGeom prst="roundRect">
            <a:avLst>
              <a:gd name="adj" fmla="val 2353"/>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10" name="Shape 8"/>
          <p:cNvSpPr/>
          <p:nvPr/>
        </p:nvSpPr>
        <p:spPr>
          <a:xfrm>
            <a:off x="6172200" y="2103120"/>
            <a:ext cx="5440680" cy="128016"/>
          </a:xfrm>
          <a:prstGeom prst="rect">
            <a:avLst/>
          </a:prstGeom>
          <a:solidFill>
            <a:srgbClr val="14B8A6"/>
          </a:solidFill>
          <a:ln/>
        </p:spPr>
      </p:sp>
      <p:sp>
        <p:nvSpPr>
          <p:cNvPr id="11" name="Text 9"/>
          <p:cNvSpPr/>
          <p:nvPr/>
        </p:nvSpPr>
        <p:spPr>
          <a:xfrm>
            <a:off x="6537960" y="2423160"/>
            <a:ext cx="4754880" cy="548640"/>
          </a:xfrm>
          <a:prstGeom prst="rect">
            <a:avLst/>
          </a:prstGeom>
          <a:noFill/>
          <a:ln/>
        </p:spPr>
        <p:txBody>
          <a:bodyPr wrap="square" lIns="0" tIns="0" rIns="0" bIns="0" rtlCol="0" anchor="ctr"/>
          <a:lstStyle/>
          <a:p>
            <a:pPr indent="0" marL="0">
              <a:buNone/>
            </a:pPr>
            <a:r>
              <a:rPr lang="en-US" sz="2200" b="1" dirty="0">
                <a:solidFill>
                  <a:srgbClr val="0F172A"/>
                </a:solidFill>
                <a:latin typeface="Georgia" pitchFamily="34" charset="0"/>
                <a:ea typeface="Georgia" pitchFamily="34" charset="-122"/>
                <a:cs typeface="Georgia" pitchFamily="34" charset="-120"/>
              </a:rPr>
              <a:t>The recommendation loop</a:t>
            </a:r>
            <a:endParaRPr lang="en-US" sz="2200" dirty="0"/>
          </a:p>
        </p:txBody>
      </p:sp>
      <p:sp>
        <p:nvSpPr>
          <p:cNvPr id="12" name="Text 10"/>
          <p:cNvSpPr/>
          <p:nvPr/>
        </p:nvSpPr>
        <p:spPr>
          <a:xfrm>
            <a:off x="6537960" y="3108960"/>
            <a:ext cx="4754880" cy="1828800"/>
          </a:xfrm>
          <a:prstGeom prst="rect">
            <a:avLst/>
          </a:prstGeom>
          <a:noFill/>
          <a:ln/>
        </p:spPr>
        <p:txBody>
          <a:bodyPr wrap="square" lIns="0" tIns="0" rIns="0" bIns="0" rtlCol="0" anchor="ctr"/>
          <a:lstStyle/>
          <a:p>
            <a:pPr indent="0" marL="0">
              <a:lnSpc>
                <a:spcPct val="115000"/>
              </a:lnSpc>
              <a:buNone/>
            </a:pPr>
            <a:r>
              <a:rPr lang="en-US" sz="1550" dirty="0">
                <a:solidFill>
                  <a:srgbClr val="64748B"/>
                </a:solidFill>
                <a:latin typeface="Calibri" pitchFamily="34" charset="0"/>
                <a:ea typeface="Calibri" pitchFamily="34" charset="-122"/>
                <a:cs typeface="Calibri" pitchFamily="34" charset="-120"/>
              </a:rPr>
              <a:t>Every customer interaction teaches us to suggest better policy. Trust + reconciliation quality climb with every run.</a:t>
            </a:r>
            <a:endParaRPr lang="en-US" sz="1550" dirty="0"/>
          </a:p>
        </p:txBody>
      </p:sp>
      <p:sp>
        <p:nvSpPr>
          <p:cNvPr id="13" name="Text 11"/>
          <p:cNvSpPr/>
          <p:nvPr/>
        </p:nvSpPr>
        <p:spPr>
          <a:xfrm>
            <a:off x="548640" y="5440680"/>
            <a:ext cx="11064240" cy="548640"/>
          </a:xfrm>
          <a:prstGeom prst="rect">
            <a:avLst/>
          </a:prstGeom>
          <a:noFill/>
          <a:ln/>
        </p:spPr>
        <p:txBody>
          <a:bodyPr wrap="square" lIns="0" tIns="0" rIns="0" bIns="0" rtlCol="0" anchor="ctr"/>
          <a:lstStyle/>
          <a:p>
            <a:pPr algn="ctr" indent="0" marL="0">
              <a:buNone/>
            </a:pPr>
            <a:r>
              <a:rPr lang="en-US" sz="1800" b="1" i="1" dirty="0">
                <a:solidFill>
                  <a:srgbClr val="0D9488"/>
                </a:solidFill>
                <a:latin typeface="Georgia" pitchFamily="34" charset="0"/>
                <a:ea typeface="Georgia" pitchFamily="34" charset="-122"/>
                <a:cs typeface="Georgia" pitchFamily="34" charset="-120"/>
              </a:rPr>
              <a:t>Both improve with usage. Neither is a weekend clone.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What we are NOT doing this year</a:t>
            </a:r>
            <a:endParaRPr lang="en-US" sz="3000" dirty="0"/>
          </a:p>
        </p:txBody>
      </p:sp>
      <p:sp>
        <p:nvSpPr>
          <p:cNvPr id="4" name="Shape 2"/>
          <p:cNvSpPr/>
          <p:nvPr/>
        </p:nvSpPr>
        <p:spPr>
          <a:xfrm>
            <a:off x="640080" y="1554480"/>
            <a:ext cx="365760" cy="365760"/>
          </a:xfrm>
          <a:prstGeom prst="ellipse">
            <a:avLst/>
          </a:prstGeom>
          <a:solidFill>
            <a:srgbClr val="FFE4E6"/>
          </a:solidFill>
          <a:ln/>
        </p:spPr>
      </p:sp>
      <p:sp>
        <p:nvSpPr>
          <p:cNvPr id="5" name="Text 3"/>
          <p:cNvSpPr/>
          <p:nvPr/>
        </p:nvSpPr>
        <p:spPr>
          <a:xfrm>
            <a:off x="640080" y="1554480"/>
            <a:ext cx="365760" cy="365760"/>
          </a:xfrm>
          <a:prstGeom prst="rect">
            <a:avLst/>
          </a:prstGeom>
          <a:noFill/>
          <a:ln/>
        </p:spPr>
        <p:txBody>
          <a:bodyPr wrap="square" lIns="0" tIns="0" rIns="0" bIns="0" rtlCol="0" anchor="ctr"/>
          <a:lstStyle/>
          <a:p>
            <a:pPr algn="ctr" indent="0" marL="0">
              <a:buNone/>
            </a:pPr>
            <a:r>
              <a:rPr lang="en-US" sz="1500" b="1" dirty="0">
                <a:solidFill>
                  <a:srgbClr val="E11D48"/>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1234440" y="1508760"/>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Building a coding agent, an LLM, or a model</a:t>
            </a:r>
            <a:endParaRPr lang="en-US" sz="1550" dirty="0"/>
          </a:p>
        </p:txBody>
      </p:sp>
      <p:sp>
        <p:nvSpPr>
          <p:cNvPr id="7" name="Shape 5"/>
          <p:cNvSpPr/>
          <p:nvPr/>
        </p:nvSpPr>
        <p:spPr>
          <a:xfrm>
            <a:off x="640080" y="2331720"/>
            <a:ext cx="365760" cy="365760"/>
          </a:xfrm>
          <a:prstGeom prst="ellipse">
            <a:avLst/>
          </a:prstGeom>
          <a:solidFill>
            <a:srgbClr val="FFE4E6"/>
          </a:solidFill>
          <a:ln/>
        </p:spPr>
      </p:sp>
      <p:sp>
        <p:nvSpPr>
          <p:cNvPr id="8" name="Text 6"/>
          <p:cNvSpPr/>
          <p:nvPr/>
        </p:nvSpPr>
        <p:spPr>
          <a:xfrm>
            <a:off x="640080" y="2331720"/>
            <a:ext cx="365760" cy="365760"/>
          </a:xfrm>
          <a:prstGeom prst="rect">
            <a:avLst/>
          </a:prstGeom>
          <a:noFill/>
          <a:ln/>
        </p:spPr>
        <p:txBody>
          <a:bodyPr wrap="square" lIns="0" tIns="0" rIns="0" bIns="0" rtlCol="0" anchor="ctr"/>
          <a:lstStyle/>
          <a:p>
            <a:pPr algn="ctr" indent="0" marL="0">
              <a:buNone/>
            </a:pPr>
            <a:r>
              <a:rPr lang="en-US" sz="1500" b="1" dirty="0">
                <a:solidFill>
                  <a:srgbClr val="E11D48"/>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1234440" y="2286000"/>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Defending against a fully attacker-controlled agent (that's EDR / malware-sandbox territory)</a:t>
            </a:r>
            <a:endParaRPr lang="en-US" sz="1550" dirty="0"/>
          </a:p>
        </p:txBody>
      </p:sp>
      <p:sp>
        <p:nvSpPr>
          <p:cNvPr id="10" name="Shape 8"/>
          <p:cNvSpPr/>
          <p:nvPr/>
        </p:nvSpPr>
        <p:spPr>
          <a:xfrm>
            <a:off x="640080" y="3108960"/>
            <a:ext cx="365760" cy="365760"/>
          </a:xfrm>
          <a:prstGeom prst="ellipse">
            <a:avLst/>
          </a:prstGeom>
          <a:solidFill>
            <a:srgbClr val="FFE4E6"/>
          </a:solidFill>
          <a:ln/>
        </p:spPr>
      </p:sp>
      <p:sp>
        <p:nvSpPr>
          <p:cNvPr id="11" name="Text 9"/>
          <p:cNvSpPr/>
          <p:nvPr/>
        </p:nvSpPr>
        <p:spPr>
          <a:xfrm>
            <a:off x="640080" y="3108960"/>
            <a:ext cx="365760" cy="365760"/>
          </a:xfrm>
          <a:prstGeom prst="rect">
            <a:avLst/>
          </a:prstGeom>
          <a:noFill/>
          <a:ln/>
        </p:spPr>
        <p:txBody>
          <a:bodyPr wrap="square" lIns="0" tIns="0" rIns="0" bIns="0" rtlCol="0" anchor="ctr"/>
          <a:lstStyle/>
          <a:p>
            <a:pPr algn="ctr" indent="0" marL="0">
              <a:buNone/>
            </a:pPr>
            <a:r>
              <a:rPr lang="en-US" sz="1500" b="1" dirty="0">
                <a:solidFill>
                  <a:srgbClr val="E11D48"/>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234440" y="3063240"/>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OS / eBPF interception first — it's the backstop, and the leverage-able tools are Linux-only</a:t>
            </a:r>
            <a:endParaRPr lang="en-US" sz="1550" dirty="0"/>
          </a:p>
        </p:txBody>
      </p:sp>
      <p:sp>
        <p:nvSpPr>
          <p:cNvPr id="13" name="Shape 11"/>
          <p:cNvSpPr/>
          <p:nvPr/>
        </p:nvSpPr>
        <p:spPr>
          <a:xfrm>
            <a:off x="640080" y="3886200"/>
            <a:ext cx="365760" cy="365760"/>
          </a:xfrm>
          <a:prstGeom prst="ellipse">
            <a:avLst/>
          </a:prstGeom>
          <a:solidFill>
            <a:srgbClr val="FFE4E6"/>
          </a:solidFill>
          <a:ln/>
        </p:spPr>
      </p:sp>
      <p:sp>
        <p:nvSpPr>
          <p:cNvPr id="14" name="Text 12"/>
          <p:cNvSpPr/>
          <p:nvPr/>
        </p:nvSpPr>
        <p:spPr>
          <a:xfrm>
            <a:off x="640080" y="3886200"/>
            <a:ext cx="365760" cy="365760"/>
          </a:xfrm>
          <a:prstGeom prst="rect">
            <a:avLst/>
          </a:prstGeom>
          <a:noFill/>
          <a:ln/>
        </p:spPr>
        <p:txBody>
          <a:bodyPr wrap="square" lIns="0" tIns="0" rIns="0" bIns="0" rtlCol="0" anchor="ctr"/>
          <a:lstStyle/>
          <a:p>
            <a:pPr algn="ctr" indent="0" marL="0">
              <a:buNone/>
            </a:pPr>
            <a:r>
              <a:rPr lang="en-US" sz="1500" b="1" dirty="0">
                <a:solidFill>
                  <a:srgbClr val="E11D48"/>
                </a:solidFill>
                <a:latin typeface="Calibri" pitchFamily="34" charset="0"/>
                <a:ea typeface="Calibri" pitchFamily="34" charset="-122"/>
                <a:cs typeface="Calibri" pitchFamily="34" charset="-120"/>
              </a:rPr>
              <a:t>✕</a:t>
            </a:r>
            <a:endParaRPr lang="en-US" sz="1500" dirty="0"/>
          </a:p>
        </p:txBody>
      </p:sp>
      <p:sp>
        <p:nvSpPr>
          <p:cNvPr id="15" name="Text 13"/>
          <p:cNvSpPr/>
          <p:nvPr/>
        </p:nvSpPr>
        <p:spPr>
          <a:xfrm>
            <a:off x="1234440" y="3840480"/>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Adopting OPA first — hidden engine; start simple, swap later, invisibly</a:t>
            </a:r>
            <a:endParaRPr lang="en-US" sz="1550" dirty="0"/>
          </a:p>
        </p:txBody>
      </p:sp>
      <p:sp>
        <p:nvSpPr>
          <p:cNvPr id="16" name="Shape 14"/>
          <p:cNvSpPr/>
          <p:nvPr/>
        </p:nvSpPr>
        <p:spPr>
          <a:xfrm>
            <a:off x="640080" y="4663440"/>
            <a:ext cx="365760" cy="365760"/>
          </a:xfrm>
          <a:prstGeom prst="ellipse">
            <a:avLst/>
          </a:prstGeom>
          <a:solidFill>
            <a:srgbClr val="FFE4E6"/>
          </a:solidFill>
          <a:ln/>
        </p:spPr>
      </p:sp>
      <p:sp>
        <p:nvSpPr>
          <p:cNvPr id="17" name="Text 15"/>
          <p:cNvSpPr/>
          <p:nvPr/>
        </p:nvSpPr>
        <p:spPr>
          <a:xfrm>
            <a:off x="640080" y="4663440"/>
            <a:ext cx="365760" cy="365760"/>
          </a:xfrm>
          <a:prstGeom prst="rect">
            <a:avLst/>
          </a:prstGeom>
          <a:noFill/>
          <a:ln/>
        </p:spPr>
        <p:txBody>
          <a:bodyPr wrap="square" lIns="0" tIns="0" rIns="0" bIns="0" rtlCol="0" anchor="ctr"/>
          <a:lstStyle/>
          <a:p>
            <a:pPr algn="ctr" indent="0" marL="0">
              <a:buNone/>
            </a:pPr>
            <a:r>
              <a:rPr lang="en-US" sz="1500" b="1" dirty="0">
                <a:solidFill>
                  <a:srgbClr val="E11D48"/>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234440" y="4617720"/>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Replacing CI, code review, or the SIEM — we feed them</a:t>
            </a:r>
            <a:endParaRPr lang="en-US" sz="1550" dirty="0"/>
          </a:p>
        </p:txBody>
      </p:sp>
      <p:sp>
        <p:nvSpPr>
          <p:cNvPr id="19" name="Shape 17"/>
          <p:cNvSpPr/>
          <p:nvPr/>
        </p:nvSpPr>
        <p:spPr>
          <a:xfrm>
            <a:off x="640080" y="5440680"/>
            <a:ext cx="365760" cy="365760"/>
          </a:xfrm>
          <a:prstGeom prst="ellipse">
            <a:avLst/>
          </a:prstGeom>
          <a:solidFill>
            <a:srgbClr val="FFE4E6"/>
          </a:solidFill>
          <a:ln/>
        </p:spPr>
      </p:sp>
      <p:sp>
        <p:nvSpPr>
          <p:cNvPr id="20" name="Text 18"/>
          <p:cNvSpPr/>
          <p:nvPr/>
        </p:nvSpPr>
        <p:spPr>
          <a:xfrm>
            <a:off x="640080" y="5440680"/>
            <a:ext cx="365760" cy="365760"/>
          </a:xfrm>
          <a:prstGeom prst="rect">
            <a:avLst/>
          </a:prstGeom>
          <a:noFill/>
          <a:ln/>
        </p:spPr>
        <p:txBody>
          <a:bodyPr wrap="square" lIns="0" tIns="0" rIns="0" bIns="0" rtlCol="0" anchor="ctr"/>
          <a:lstStyle/>
          <a:p>
            <a:pPr algn="ctr" indent="0" marL="0">
              <a:buNone/>
            </a:pPr>
            <a:r>
              <a:rPr lang="en-US" sz="1500" b="1" dirty="0">
                <a:solidFill>
                  <a:srgbClr val="E11D48"/>
                </a:solidFill>
                <a:latin typeface="Calibri" pitchFamily="34" charset="0"/>
                <a:ea typeface="Calibri" pitchFamily="34" charset="-122"/>
                <a:cs typeface="Calibri" pitchFamily="34" charset="-120"/>
              </a:rPr>
              <a:t>✕</a:t>
            </a:r>
            <a:endParaRPr lang="en-US" sz="1500" dirty="0"/>
          </a:p>
        </p:txBody>
      </p:sp>
      <p:sp>
        <p:nvSpPr>
          <p:cNvPr id="21" name="Text 19"/>
          <p:cNvSpPr/>
          <p:nvPr/>
        </p:nvSpPr>
        <p:spPr>
          <a:xfrm>
            <a:off x="1234440" y="5394960"/>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Enterprise hardening at scale (SSO / SOC2 / multi-tenant) before the loop is loved</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Risks we're watching</a:t>
            </a:r>
            <a:endParaRPr lang="en-US" sz="3000" dirty="0"/>
          </a:p>
        </p:txBody>
      </p:sp>
      <p:sp>
        <p:nvSpPr>
          <p:cNvPr id="4" name="Shape 2"/>
          <p:cNvSpPr/>
          <p:nvPr/>
        </p:nvSpPr>
        <p:spPr>
          <a:xfrm>
            <a:off x="548640" y="1463040"/>
            <a:ext cx="5440680" cy="2057400"/>
          </a:xfrm>
          <a:prstGeom prst="roundRect">
            <a:avLst>
              <a:gd name="adj" fmla="val 3556"/>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5" name="Shape 3"/>
          <p:cNvSpPr/>
          <p:nvPr/>
        </p:nvSpPr>
        <p:spPr>
          <a:xfrm>
            <a:off x="548640" y="1463040"/>
            <a:ext cx="128016" cy="2057400"/>
          </a:xfrm>
          <a:prstGeom prst="rect">
            <a:avLst/>
          </a:prstGeom>
          <a:solidFill>
            <a:srgbClr val="F59E0B"/>
          </a:solidFill>
          <a:ln/>
        </p:spPr>
      </p:sp>
      <p:sp>
        <p:nvSpPr>
          <p:cNvPr id="6" name="Text 4"/>
          <p:cNvSpPr/>
          <p:nvPr/>
        </p:nvSpPr>
        <p:spPr>
          <a:xfrm>
            <a:off x="914400" y="1719072"/>
            <a:ext cx="4846320" cy="457200"/>
          </a:xfrm>
          <a:prstGeom prst="rect">
            <a:avLst/>
          </a:prstGeom>
          <a:noFill/>
          <a:ln/>
        </p:spPr>
        <p:txBody>
          <a:bodyPr wrap="square" lIns="0" tIns="0" rIns="0" bIns="0" rtlCol="0" anchor="ctr"/>
          <a:lstStyle/>
          <a:p>
            <a:pPr indent="0" marL="0">
              <a:buNone/>
            </a:pPr>
            <a:r>
              <a:rPr lang="en-US" sz="1900" b="1" dirty="0">
                <a:solidFill>
                  <a:srgbClr val="0F172A"/>
                </a:solidFill>
                <a:latin typeface="Georgia" pitchFamily="34" charset="0"/>
                <a:ea typeface="Georgia" pitchFamily="34" charset="-122"/>
                <a:cs typeface="Georgia" pitchFamily="34" charset="-120"/>
              </a:rPr>
              <a:t>Recommendation quality</a:t>
            </a:r>
            <a:endParaRPr lang="en-US" sz="1900" dirty="0"/>
          </a:p>
        </p:txBody>
      </p:sp>
      <p:sp>
        <p:nvSpPr>
          <p:cNvPr id="7" name="Text 5"/>
          <p:cNvSpPr/>
          <p:nvPr/>
        </p:nvSpPr>
        <p:spPr>
          <a:xfrm>
            <a:off x="914400" y="2286000"/>
            <a:ext cx="4846320" cy="1097280"/>
          </a:xfrm>
          <a:prstGeom prst="rect">
            <a:avLst/>
          </a:prstGeom>
          <a:noFill/>
          <a:ln/>
        </p:spPr>
        <p:txBody>
          <a:bodyPr wrap="square" lIns="0" tIns="0" rIns="0" bIns="0" rtlCol="0" anchor="ctr"/>
          <a:lstStyle/>
          <a:p>
            <a:pPr indent="0" marL="0">
              <a:lnSpc>
                <a:spcPct val="112000"/>
              </a:lnSpc>
              <a:buNone/>
            </a:pPr>
            <a:r>
              <a:rPr lang="en-US" sz="1450" dirty="0">
                <a:solidFill>
                  <a:srgbClr val="64748B"/>
                </a:solidFill>
                <a:latin typeface="Calibri" pitchFamily="34" charset="0"/>
                <a:ea typeface="Calibri" pitchFamily="34" charset="-122"/>
                <a:cs typeface="Calibri" pitchFamily="34" charset="-120"/>
              </a:rPr>
              <a:t>Policy-by-demonstration removes “Rego is hard,” but bad AI suggestions erode trust fast. The thing to nail in step 3.</a:t>
            </a:r>
            <a:endParaRPr lang="en-US" sz="1450" dirty="0"/>
          </a:p>
        </p:txBody>
      </p:sp>
      <p:sp>
        <p:nvSpPr>
          <p:cNvPr id="8" name="Shape 6"/>
          <p:cNvSpPr/>
          <p:nvPr/>
        </p:nvSpPr>
        <p:spPr>
          <a:xfrm>
            <a:off x="6172200" y="1463040"/>
            <a:ext cx="5440680" cy="2057400"/>
          </a:xfrm>
          <a:prstGeom prst="roundRect">
            <a:avLst>
              <a:gd name="adj" fmla="val 3556"/>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9" name="Shape 7"/>
          <p:cNvSpPr/>
          <p:nvPr/>
        </p:nvSpPr>
        <p:spPr>
          <a:xfrm>
            <a:off x="6172200" y="1463040"/>
            <a:ext cx="128016" cy="2057400"/>
          </a:xfrm>
          <a:prstGeom prst="rect">
            <a:avLst/>
          </a:prstGeom>
          <a:solidFill>
            <a:srgbClr val="E11D48"/>
          </a:solidFill>
          <a:ln/>
        </p:spPr>
      </p:sp>
      <p:sp>
        <p:nvSpPr>
          <p:cNvPr id="10" name="Text 8"/>
          <p:cNvSpPr/>
          <p:nvPr/>
        </p:nvSpPr>
        <p:spPr>
          <a:xfrm>
            <a:off x="6537960" y="1719072"/>
            <a:ext cx="4846320" cy="457200"/>
          </a:xfrm>
          <a:prstGeom prst="rect">
            <a:avLst/>
          </a:prstGeom>
          <a:noFill/>
          <a:ln/>
        </p:spPr>
        <p:txBody>
          <a:bodyPr wrap="square" lIns="0" tIns="0" rIns="0" bIns="0" rtlCol="0" anchor="ctr"/>
          <a:lstStyle/>
          <a:p>
            <a:pPr indent="0" marL="0">
              <a:buNone/>
            </a:pPr>
            <a:r>
              <a:rPr lang="en-US" sz="1900" b="1" dirty="0">
                <a:solidFill>
                  <a:srgbClr val="0F172A"/>
                </a:solidFill>
                <a:latin typeface="Georgia" pitchFamily="34" charset="0"/>
                <a:ea typeface="Georgia" pitchFamily="34" charset="-122"/>
                <a:cs typeface="Georgia" pitchFamily="34" charset="-120"/>
              </a:rPr>
              <a:t>We're critical-path infra</a:t>
            </a:r>
            <a:endParaRPr lang="en-US" sz="1900" dirty="0"/>
          </a:p>
        </p:txBody>
      </p:sp>
      <p:sp>
        <p:nvSpPr>
          <p:cNvPr id="11" name="Text 9"/>
          <p:cNvSpPr/>
          <p:nvPr/>
        </p:nvSpPr>
        <p:spPr>
          <a:xfrm>
            <a:off x="6537960" y="2286000"/>
            <a:ext cx="4846320" cy="1097280"/>
          </a:xfrm>
          <a:prstGeom prst="rect">
            <a:avLst/>
          </a:prstGeom>
          <a:noFill/>
          <a:ln/>
        </p:spPr>
        <p:txBody>
          <a:bodyPr wrap="square" lIns="0" tIns="0" rIns="0" bIns="0" rtlCol="0" anchor="ctr"/>
          <a:lstStyle/>
          <a:p>
            <a:pPr indent="0" marL="0">
              <a:lnSpc>
                <a:spcPct val="112000"/>
              </a:lnSpc>
              <a:buNone/>
            </a:pPr>
            <a:r>
              <a:rPr lang="en-US" sz="1450" dirty="0">
                <a:solidFill>
                  <a:srgbClr val="64748B"/>
                </a:solidFill>
                <a:latin typeface="Calibri" pitchFamily="34" charset="0"/>
                <a:ea typeface="Calibri" pitchFamily="34" charset="-122"/>
                <a:cs typeface="Calibri" pitchFamily="34" charset="-120"/>
              </a:rPr>
              <a:t>The moment we can block, we can break a workflow. Reliability &amp; fail-modes matter far more now.</a:t>
            </a:r>
            <a:endParaRPr lang="en-US" sz="1450" dirty="0"/>
          </a:p>
        </p:txBody>
      </p:sp>
      <p:sp>
        <p:nvSpPr>
          <p:cNvPr id="12" name="Shape 10"/>
          <p:cNvSpPr/>
          <p:nvPr/>
        </p:nvSpPr>
        <p:spPr>
          <a:xfrm>
            <a:off x="548640" y="3749040"/>
            <a:ext cx="5440680" cy="2057400"/>
          </a:xfrm>
          <a:prstGeom prst="roundRect">
            <a:avLst>
              <a:gd name="adj" fmla="val 3556"/>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13" name="Shape 11"/>
          <p:cNvSpPr/>
          <p:nvPr/>
        </p:nvSpPr>
        <p:spPr>
          <a:xfrm>
            <a:off x="548640" y="3749040"/>
            <a:ext cx="128016" cy="2057400"/>
          </a:xfrm>
          <a:prstGeom prst="rect">
            <a:avLst/>
          </a:prstGeom>
          <a:solidFill>
            <a:srgbClr val="0D9488"/>
          </a:solidFill>
          <a:ln/>
        </p:spPr>
      </p:sp>
      <p:sp>
        <p:nvSpPr>
          <p:cNvPr id="14" name="Text 12"/>
          <p:cNvSpPr/>
          <p:nvPr/>
        </p:nvSpPr>
        <p:spPr>
          <a:xfrm>
            <a:off x="914400" y="4005072"/>
            <a:ext cx="4846320" cy="457200"/>
          </a:xfrm>
          <a:prstGeom prst="rect">
            <a:avLst/>
          </a:prstGeom>
          <a:noFill/>
          <a:ln/>
        </p:spPr>
        <p:txBody>
          <a:bodyPr wrap="square" lIns="0" tIns="0" rIns="0" bIns="0" rtlCol="0" anchor="ctr"/>
          <a:lstStyle/>
          <a:p>
            <a:pPr indent="0" marL="0">
              <a:buNone/>
            </a:pPr>
            <a:r>
              <a:rPr lang="en-US" sz="1900" b="1" dirty="0">
                <a:solidFill>
                  <a:srgbClr val="0F172A"/>
                </a:solidFill>
                <a:latin typeface="Georgia" pitchFamily="34" charset="0"/>
                <a:ea typeface="Georgia" pitchFamily="34" charset="-122"/>
                <a:cs typeface="Georgia" pitchFamily="34" charset="-120"/>
              </a:rPr>
              <a:t>Completeness is a deployment property</a:t>
            </a:r>
            <a:endParaRPr lang="en-US" sz="1900" dirty="0"/>
          </a:p>
        </p:txBody>
      </p:sp>
      <p:sp>
        <p:nvSpPr>
          <p:cNvPr id="15" name="Text 13"/>
          <p:cNvSpPr/>
          <p:nvPr/>
        </p:nvSpPr>
        <p:spPr>
          <a:xfrm>
            <a:off x="914400" y="4572000"/>
            <a:ext cx="4846320" cy="1097280"/>
          </a:xfrm>
          <a:prstGeom prst="rect">
            <a:avLst/>
          </a:prstGeom>
          <a:noFill/>
          <a:ln/>
        </p:spPr>
        <p:txBody>
          <a:bodyPr wrap="square" lIns="0" tIns="0" rIns="0" bIns="0" rtlCol="0" anchor="ctr"/>
          <a:lstStyle/>
          <a:p>
            <a:pPr indent="0" marL="0">
              <a:lnSpc>
                <a:spcPct val="112000"/>
              </a:lnSpc>
              <a:buNone/>
            </a:pPr>
            <a:r>
              <a:rPr lang="en-US" sz="1450" dirty="0">
                <a:solidFill>
                  <a:srgbClr val="64748B"/>
                </a:solidFill>
                <a:latin typeface="Calibri" pitchFamily="34" charset="0"/>
                <a:ea typeface="Calibri" pitchFamily="34" charset="-122"/>
                <a:cs typeface="Calibri" pitchFamily="34" charset="-120"/>
              </a:rPr>
              <a:t>Our guarantee holds only if there's no un-brokered path. We must detect &amp; report weak posture — never pretend.</a:t>
            </a:r>
            <a:endParaRPr lang="en-US" sz="1450" dirty="0"/>
          </a:p>
        </p:txBody>
      </p:sp>
      <p:sp>
        <p:nvSpPr>
          <p:cNvPr id="16" name="Shape 14"/>
          <p:cNvSpPr/>
          <p:nvPr/>
        </p:nvSpPr>
        <p:spPr>
          <a:xfrm>
            <a:off x="6172200" y="3749040"/>
            <a:ext cx="5440680" cy="2057400"/>
          </a:xfrm>
          <a:prstGeom prst="roundRect">
            <a:avLst>
              <a:gd name="adj" fmla="val 3556"/>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sp>
      <p:sp>
        <p:nvSpPr>
          <p:cNvPr id="17" name="Shape 15"/>
          <p:cNvSpPr/>
          <p:nvPr/>
        </p:nvSpPr>
        <p:spPr>
          <a:xfrm>
            <a:off x="6172200" y="3749040"/>
            <a:ext cx="128016" cy="2057400"/>
          </a:xfrm>
          <a:prstGeom prst="rect">
            <a:avLst/>
          </a:prstGeom>
          <a:solidFill>
            <a:srgbClr val="14B8A6"/>
          </a:solidFill>
          <a:ln/>
        </p:spPr>
      </p:sp>
      <p:sp>
        <p:nvSpPr>
          <p:cNvPr id="18" name="Text 16"/>
          <p:cNvSpPr/>
          <p:nvPr/>
        </p:nvSpPr>
        <p:spPr>
          <a:xfrm>
            <a:off x="6537960" y="4005072"/>
            <a:ext cx="4846320" cy="457200"/>
          </a:xfrm>
          <a:prstGeom prst="rect">
            <a:avLst/>
          </a:prstGeom>
          <a:noFill/>
          <a:ln/>
        </p:spPr>
        <p:txBody>
          <a:bodyPr wrap="square" lIns="0" tIns="0" rIns="0" bIns="0" rtlCol="0" anchor="ctr"/>
          <a:lstStyle/>
          <a:p>
            <a:pPr indent="0" marL="0">
              <a:buNone/>
            </a:pPr>
            <a:r>
              <a:rPr lang="en-US" sz="1900" b="1" dirty="0">
                <a:solidFill>
                  <a:srgbClr val="0F172A"/>
                </a:solidFill>
                <a:latin typeface="Georgia" pitchFamily="34" charset="0"/>
                <a:ea typeface="Georgia" pitchFamily="34" charset="-122"/>
                <a:cs typeface="Georgia" pitchFamily="34" charset="-120"/>
              </a:rPr>
              <a:t>Scope re-bloat</a:t>
            </a:r>
            <a:endParaRPr lang="en-US" sz="1900" dirty="0"/>
          </a:p>
        </p:txBody>
      </p:sp>
      <p:sp>
        <p:nvSpPr>
          <p:cNvPr id="19" name="Text 17"/>
          <p:cNvSpPr/>
          <p:nvPr/>
        </p:nvSpPr>
        <p:spPr>
          <a:xfrm>
            <a:off x="6537960" y="4572000"/>
            <a:ext cx="4846320" cy="1097280"/>
          </a:xfrm>
          <a:prstGeom prst="rect">
            <a:avLst/>
          </a:prstGeom>
          <a:noFill/>
          <a:ln/>
        </p:spPr>
        <p:txBody>
          <a:bodyPr wrap="square" lIns="0" tIns="0" rIns="0" bIns="0" rtlCol="0" anchor="ctr"/>
          <a:lstStyle/>
          <a:p>
            <a:pPr indent="0" marL="0">
              <a:lnSpc>
                <a:spcPct val="112000"/>
              </a:lnSpc>
              <a:buNone/>
            </a:pPr>
            <a:r>
              <a:rPr lang="en-US" sz="1450" dirty="0">
                <a:solidFill>
                  <a:srgbClr val="64748B"/>
                </a:solidFill>
                <a:latin typeface="Calibri" pitchFamily="34" charset="0"/>
                <a:ea typeface="Calibri" pitchFamily="34" charset="-122"/>
                <a:cs typeface="Calibri" pitchFamily="34" charset="-120"/>
              </a:rPr>
              <a:t>The same pull that bloated the project before. Spine stays small; collectors stay pluggable; non-goals stay non-goals.</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8229600" y="-822960"/>
            <a:ext cx="4206240" cy="4206240"/>
          </a:xfrm>
          <a:prstGeom prst="ellipse">
            <a:avLst/>
          </a:prstGeom>
          <a:ln w="15875">
            <a:solidFill>
              <a:srgbClr val="0D9488">
                <a:alpha val="25000"/>
              </a:srgbClr>
            </a:solidFill>
            <a:prstDash val="solid"/>
          </a:ln>
        </p:spPr>
      </p:sp>
      <p:sp>
        <p:nvSpPr>
          <p:cNvPr id="3" name="Shape 1"/>
          <p:cNvSpPr/>
          <p:nvPr/>
        </p:nvSpPr>
        <p:spPr>
          <a:xfrm>
            <a:off x="8869680" y="-182880"/>
            <a:ext cx="2926080" cy="2926080"/>
          </a:xfrm>
          <a:prstGeom prst="ellipse">
            <a:avLst/>
          </a:prstGeom>
          <a:ln w="15875">
            <a:solidFill>
              <a:srgbClr val="0D9488">
                <a:alpha val="50000"/>
              </a:srgbClr>
            </a:solidFill>
            <a:prstDash val="solid"/>
          </a:ln>
        </p:spPr>
      </p:sp>
      <p:sp>
        <p:nvSpPr>
          <p:cNvPr id="4" name="Shape 2"/>
          <p:cNvSpPr/>
          <p:nvPr/>
        </p:nvSpPr>
        <p:spPr>
          <a:xfrm>
            <a:off x="9464040" y="411480"/>
            <a:ext cx="1737360" cy="1737360"/>
          </a:xfrm>
          <a:prstGeom prst="ellipse">
            <a:avLst/>
          </a:prstGeom>
          <a:ln w="15875">
            <a:solidFill>
              <a:srgbClr val="0D9488">
                <a:alpha val="75000"/>
              </a:srgbClr>
            </a:solidFill>
            <a:prstDash val="solid"/>
          </a:ln>
        </p:spPr>
      </p:sp>
      <p:sp>
        <p:nvSpPr>
          <p:cNvPr id="5" name="Text 3"/>
          <p:cNvSpPr/>
          <p:nvPr/>
        </p:nvSpPr>
        <p:spPr>
          <a:xfrm>
            <a:off x="640080" y="2286000"/>
            <a:ext cx="7315200" cy="274320"/>
          </a:xfrm>
          <a:prstGeom prst="rect">
            <a:avLst/>
          </a:prstGeom>
          <a:noFill/>
          <a:ln/>
        </p:spPr>
        <p:txBody>
          <a:bodyPr wrap="square" lIns="0" tIns="0" rIns="0" bIns="0" rtlCol="0" anchor="ctr"/>
          <a:lstStyle/>
          <a:p>
            <a:pPr indent="0" marL="0">
              <a:buNone/>
            </a:pPr>
            <a:r>
              <a:rPr lang="en-US" sz="1200" b="1" spc="300" kern="0" dirty="0">
                <a:solidFill>
                  <a:srgbClr val="5EEAD4"/>
                </a:solidFill>
                <a:latin typeface="Calibri" pitchFamily="34" charset="0"/>
                <a:ea typeface="Calibri" pitchFamily="34" charset="-122"/>
                <a:cs typeface="Calibri" pitchFamily="34" charset="-120"/>
              </a:rPr>
              <a:t>THE ONE-SENTENCE VERSION</a:t>
            </a:r>
            <a:endParaRPr lang="en-US" sz="1200" dirty="0"/>
          </a:p>
        </p:txBody>
      </p:sp>
      <p:sp>
        <p:nvSpPr>
          <p:cNvPr id="6" name="Text 4"/>
          <p:cNvSpPr/>
          <p:nvPr/>
        </p:nvSpPr>
        <p:spPr>
          <a:xfrm>
            <a:off x="640080" y="2788920"/>
            <a:ext cx="10607040" cy="2743200"/>
          </a:xfrm>
          <a:prstGeom prst="rect">
            <a:avLst/>
          </a:prstGeom>
          <a:noFill/>
          <a:ln/>
        </p:spPr>
        <p:txBody>
          <a:bodyPr wrap="square" lIns="0" tIns="0" rIns="0" bIns="0" rtlCol="0" anchor="ctr"/>
          <a:lstStyle/>
          <a:p>
            <a:pPr indent="0" marL="0">
              <a:lnSpc>
                <a:spcPct val="112000"/>
              </a:lnSpc>
              <a:buNone/>
            </a:pPr>
            <a:r>
              <a:rPr lang="en-US" sz="2700" b="1" dirty="0">
                <a:solidFill>
                  <a:srgbClr val="FFFFFF"/>
                </a:solidFill>
                <a:latin typeface="Georgia" pitchFamily="34" charset="0"/>
                <a:ea typeface="Georgia" pitchFamily="34" charset="-122"/>
                <a:cs typeface="Georgia" pitchFamily="34" charset="-120"/>
              </a:rPr>
              <a:t>We make agents safe to put to work by recording everything they do at one controllable chokepoint, and </a:t>
            </a:r>
            <a:pPr indent="0" marL="0">
              <a:lnSpc>
                <a:spcPct val="112000"/>
              </a:lnSpc>
              <a:buNone/>
            </a:pPr>
            <a:r>
              <a:rPr lang="en-US" sz="2700" b="1" dirty="0">
                <a:solidFill>
                  <a:srgbClr val="5EEAD4"/>
                </a:solidFill>
                <a:latin typeface="Georgia" pitchFamily="34" charset="0"/>
                <a:ea typeface="Georgia" pitchFamily="34" charset="-122"/>
                <a:cs typeface="Georgia" pitchFamily="34" charset="-120"/>
              </a:rPr>
              <a:t>teaching the guardrails from real behavior</a:t>
            </a:r>
            <a:pPr indent="0" marL="0">
              <a:lnSpc>
                <a:spcPct val="112000"/>
              </a:lnSpc>
              <a:buNone/>
            </a:pPr>
            <a:r>
              <a:rPr lang="en-US" sz="2700" b="1" dirty="0">
                <a:solidFill>
                  <a:srgbClr val="FFFFFF"/>
                </a:solidFill>
                <a:latin typeface="Georgia" pitchFamily="34" charset="0"/>
                <a:ea typeface="Georgia" pitchFamily="34" charset="-122"/>
                <a:cs typeface="Georgia" pitchFamily="34" charset="-120"/>
              </a:rPr>
              <a:t> instead of asking anyone to write them — so a human can always see, understand, and stop what an agent is about to do.</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AgentProof — North Star</dc:title>
  <dc:subject>PptxGenJS Presentation</dc:subject>
  <dc:creator>Tushar</dc:creator>
  <cp:lastModifiedBy>Tushar</cp:lastModifiedBy>
  <cp:revision>1</cp:revision>
  <dcterms:created xsi:type="dcterms:W3CDTF">2026-06-14T21:41:06Z</dcterms:created>
  <dcterms:modified xsi:type="dcterms:W3CDTF">2026-06-14T21:41:06Z</dcterms:modified>
</cp:coreProperties>
</file>