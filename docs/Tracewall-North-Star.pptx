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7132320" y="1051560"/>
            <a:ext cx="4754880" cy="4754880"/>
          </a:xfrm>
          <a:prstGeom prst="ellipse">
            <a:avLst/>
          </a:prstGeom>
          <a:ln w="15875">
            <a:solidFill>
              <a:srgbClr val="0D9488">
                <a:alpha val="30000"/>
              </a:srgbClr>
            </a:solidFill>
            <a:prstDash val="solid"/>
          </a:ln>
        </p:spPr>
        <p:txBody>
          <a:bodyPr/>
          <a:p/>
        </p:txBody>
      </p:sp>
      <p:sp>
        <p:nvSpPr>
          <p:cNvPr id="3" name="Shape 1"/>
          <p:cNvSpPr/>
          <p:nvPr/>
        </p:nvSpPr>
        <p:spPr>
          <a:xfrm>
            <a:off x="7818120" y="1737360"/>
            <a:ext cx="3383280" cy="3383280"/>
          </a:xfrm>
          <a:prstGeom prst="ellipse">
            <a:avLst/>
          </a:prstGeom>
          <a:ln w="15875">
            <a:solidFill>
              <a:srgbClr val="0D9488">
                <a:alpha val="55000"/>
              </a:srgbClr>
            </a:solidFill>
            <a:prstDash val="solid"/>
          </a:ln>
        </p:spPr>
        <p:txBody>
          <a:bodyPr/>
          <a:p/>
        </p:txBody>
      </p:sp>
      <p:sp>
        <p:nvSpPr>
          <p:cNvPr id="4" name="Shape 2"/>
          <p:cNvSpPr/>
          <p:nvPr/>
        </p:nvSpPr>
        <p:spPr>
          <a:xfrm>
            <a:off x="8458200" y="2377440"/>
            <a:ext cx="2103120" cy="2103120"/>
          </a:xfrm>
          <a:prstGeom prst="ellipse">
            <a:avLst/>
          </a:prstGeom>
          <a:ln w="15875">
            <a:solidFill>
              <a:srgbClr val="0D9488">
                <a:alpha val="80000"/>
              </a:srgbClr>
            </a:solidFill>
            <a:prstDash val="solid"/>
          </a:ln>
        </p:spPr>
        <p:txBody>
          <a:bodyPr/>
          <a:p/>
        </p:txBody>
      </p:sp>
      <p:sp>
        <p:nvSpPr>
          <p:cNvPr id="5" name="Shape 3"/>
          <p:cNvSpPr/>
          <p:nvPr/>
        </p:nvSpPr>
        <p:spPr>
          <a:xfrm>
            <a:off x="9363456" y="3282696"/>
            <a:ext cx="292608" cy="292608"/>
          </a:xfrm>
          <a:prstGeom prst="ellipse">
            <a:avLst/>
          </a:prstGeom>
          <a:solidFill>
            <a:srgbClr val="5EEAD4"/>
          </a:solidFill>
          <a:ln/>
        </p:spPr>
        <p:txBody>
          <a:bodyPr/>
          <a:p/>
        </p:txBody>
      </p:sp>
      <p:sp>
        <p:nvSpPr>
          <p:cNvPr id="6" name="Text 4"/>
          <p:cNvSpPr/>
          <p:nvPr/>
        </p:nvSpPr>
        <p:spPr>
          <a:xfrm>
            <a:off x="640080" y="137160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INTERNAL COMPASS</a:t>
            </a:r>
            <a:endParaRPr lang="en-US" sz="1400" dirty="0"/>
          </a:p>
        </p:txBody>
      </p:sp>
      <p:sp>
        <p:nvSpPr>
          <p:cNvPr id="7" name="Text 5"/>
          <p:cNvSpPr/>
          <p:nvPr/>
        </p:nvSpPr>
        <p:spPr>
          <a:xfrm>
            <a:off x="603504" y="1828800"/>
            <a:ext cx="8229600" cy="1920240"/>
          </a:xfrm>
          <a:prstGeom prst="rect">
            <a:avLst/>
          </a:prstGeom>
          <a:noFill/>
          <a:ln/>
        </p:spPr>
        <p:txBody>
          <a:bodyPr wrap="square" lIns="0" tIns="0" rIns="0" bIns="0" rtlCol="0" anchor="ctr"/>
          <a:lstStyle/>
          <a:p>
            <a:pPr indent="0" marL="0">
              <a:lnSpc>
                <a:spcPct val="95000"/>
              </a:lnSpc>
              <a:buNone/>
            </a:pPr>
            <a:r>
              <a:rPr lang="en-US" sz="6000" b="1" dirty="0">
                <a:solidFill>
                  <a:srgbClr val="FFFFFF"/>
                </a:solidFill>
                <a:latin typeface="Georgia" pitchFamily="34" charset="0"/>
                <a:ea typeface="Georgia" pitchFamily="34" charset="-122"/>
                <a:cs typeface="Georgia" pitchFamily="34" charset="-120"/>
              </a:rPr>
              <a:t>Tracewall</a:t>
            </a:r>
            <a:endParaRPr lang="en-US" sz="6000" dirty="0"/>
          </a:p>
          <a:p>
            <a:pPr indent="0" marL="0">
              <a:lnSpc>
                <a:spcPct val="95000"/>
              </a:lnSpc>
              <a:buNone/>
            </a:pPr>
            <a:r>
              <a:rPr lang="en-US" sz="6000" b="1" dirty="0">
                <a:solidFill>
                  <a:srgbClr val="5EEAD4"/>
                </a:solidFill>
                <a:latin typeface="Georgia" pitchFamily="34" charset="0"/>
                <a:ea typeface="Georgia" pitchFamily="34" charset="-122"/>
                <a:cs typeface="Georgia" pitchFamily="34" charset="-120"/>
              </a:rPr>
              <a:t>North Star</a:t>
            </a:r>
            <a:endParaRPr lang="en-US" sz="6000" dirty="0"/>
          </a:p>
        </p:txBody>
      </p:sp>
      <p:sp>
        <p:nvSpPr>
          <p:cNvPr id="8" name="Text 6"/>
          <p:cNvSpPr/>
          <p:nvPr/>
        </p:nvSpPr>
        <p:spPr>
          <a:xfrm>
            <a:off x="640080" y="3977640"/>
            <a:ext cx="7863840" cy="548640"/>
          </a:xfrm>
          <a:prstGeom prst="rect">
            <a:avLst/>
          </a:prstGeom>
          <a:noFill/>
          <a:ln/>
        </p:spPr>
        <p:txBody>
          <a:bodyPr wrap="square" lIns="0" tIns="0" rIns="0" bIns="0" rtlCol="0" anchor="ctr"/>
          <a:lstStyle/>
          <a:p>
            <a:pPr indent="0" marL="0">
              <a:buNone/>
            </a:pPr>
            <a:r>
              <a:rPr lang="en-US" sz="2200" i="1" dirty="0">
                <a:solidFill>
                  <a:srgbClr val="CBD5E1"/>
                </a:solidFill>
                <a:latin typeface="Calibri" pitchFamily="34" charset="0"/>
                <a:ea typeface="Calibri" pitchFamily="34" charset="-122"/>
                <a:cs typeface="Calibri" pitchFamily="34" charset="-120"/>
              </a:rPr>
              <a:t>Make AI agents safe to put to work.</a:t>
            </a:r>
            <a:endParaRPr lang="en-US" sz="2200" dirty="0"/>
          </a:p>
        </p:txBody>
      </p:sp>
      <p:sp>
        <p:nvSpPr>
          <p:cNvPr id="9" name="Text 7"/>
          <p:cNvSpPr/>
          <p:nvPr/>
        </p:nvSpPr>
        <p:spPr>
          <a:xfrm>
            <a:off x="640080" y="6126480"/>
            <a:ext cx="8229600" cy="365760"/>
          </a:xfrm>
          <a:prstGeom prst="rect">
            <a:avLst/>
          </a:prstGeom>
          <a:noFill/>
          <a:ln/>
        </p:spPr>
        <p:txBody>
          <a:bodyPr wrap="square" lIns="0" tIns="0" rIns="0" bIns="0" rtlCol="0" anchor="ctr"/>
          <a:lstStyle/>
          <a:p>
            <a:pPr indent="0" marL="0">
              <a:buNone/>
            </a:pPr>
            <a:r>
              <a:rPr lang="en-US" sz="1300" spc="100" kern="0" dirty="0">
                <a:solidFill>
                  <a:srgbClr val="94A3B8"/>
                </a:solidFill>
                <a:latin typeface="Calibri" pitchFamily="34" charset="0"/>
                <a:ea typeface="Calibri" pitchFamily="34" charset="-122"/>
                <a:cs typeface="Calibri" pitchFamily="34" charset="-120"/>
              </a:rPr>
              <a:t>12-month horizon  ·  founding team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640080" y="77724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 NORTH STAR</a:t>
            </a:r>
            <a:endParaRPr lang="en-US" sz="1200" dirty="0"/>
          </a:p>
        </p:txBody>
      </p:sp>
      <p:sp>
        <p:nvSpPr>
          <p:cNvPr id="3" name="Text 1"/>
          <p:cNvSpPr/>
          <p:nvPr/>
        </p:nvSpPr>
        <p:spPr>
          <a:xfrm>
            <a:off x="640080" y="1371600"/>
            <a:ext cx="10881360" cy="274320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Georgia" pitchFamily="34" charset="0"/>
                <a:ea typeface="Georgia" pitchFamily="34" charset="-122"/>
                <a:cs typeface="Georgia" pitchFamily="34" charset="-120"/>
              </a:rPr>
              <a:t>Make AI agents safe to put to work — by making every action they take </a:t>
            </a:r>
            <a:pPr indent="0" marL="0">
              <a:lnSpc>
                <a:spcPct val="108000"/>
              </a:lnSpc>
              <a:buNone/>
            </a:pPr>
            <a:r>
              <a:rPr lang="en-US" sz="3300" b="1" dirty="0">
                <a:solidFill>
                  <a:srgbClr val="5EEAD4"/>
                </a:solidFill>
                <a:latin typeface="Georgia" pitchFamily="34" charset="0"/>
                <a:ea typeface="Georgia" pitchFamily="34" charset="-122"/>
                <a:cs typeface="Georgia" pitchFamily="34" charset="-120"/>
              </a:rPr>
              <a:t>visible, attributable, and controllable</a:t>
            </a:r>
            <a:pPr indent="0" marL="0">
              <a:lnSpc>
                <a:spcPct val="108000"/>
              </a:lnSpc>
              <a:buNone/>
            </a:pPr>
            <a:r>
              <a:rPr lang="en-US" sz="3300" b="1" dirty="0">
                <a:solidFill>
                  <a:srgbClr val="FFFFFF"/>
                </a:solidFill>
                <a:latin typeface="Georgia" pitchFamily="34" charset="0"/>
                <a:ea typeface="Georgia" pitchFamily="34" charset="-122"/>
                <a:cs typeface="Georgia" pitchFamily="34" charset="-120"/>
              </a:rPr>
              <a:t>, without forcing anyone to hand-write a single policy.</a:t>
            </a:r>
            <a:endParaRPr lang="en-US" sz="3300" dirty="0"/>
          </a:p>
        </p:txBody>
      </p:sp>
      <p:sp>
        <p:nvSpPr>
          <p:cNvPr id="4" name="Text 2"/>
          <p:cNvSpPr/>
          <p:nvPr/>
        </p:nvSpPr>
        <p:spPr>
          <a:xfrm>
            <a:off x="640080" y="4572000"/>
            <a:ext cx="10424160" cy="1280160"/>
          </a:xfrm>
          <a:prstGeom prst="rect">
            <a:avLst/>
          </a:prstGeom>
          <a:noFill/>
          <a:ln/>
        </p:spPr>
        <p:txBody>
          <a:bodyPr wrap="square" lIns="0" tIns="0" rIns="0" bIns="0" rtlCol="0" anchor="ctr"/>
          <a:lstStyle/>
          <a:p>
            <a:pPr indent="0" marL="0">
              <a:lnSpc>
                <a:spcPct val="110000"/>
              </a:lnSpc>
              <a:buNone/>
            </a:pPr>
            <a:r>
              <a:rPr lang="en-US" sz="1700" dirty="0">
                <a:solidFill>
                  <a:srgbClr val="CBD5E1"/>
                </a:solidFill>
                <a:latin typeface="Calibri" pitchFamily="34" charset="0"/>
                <a:ea typeface="Calibri" pitchFamily="34" charset="-122"/>
                <a:cs typeface="Calibri" pitchFamily="34" charset="-120"/>
              </a:rPr>
              <a:t>The blocker to agentic work isn't model quality — it's trust. No serious org lets an agent act on its systems as a black box. We turn that black box into something a human can see, understand, and stop.</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Why now</a:t>
            </a:r>
            <a:endParaRPr lang="en-US" sz="3000" dirty="0"/>
          </a:p>
        </p:txBody>
      </p:sp>
      <p:sp>
        <p:nvSpPr>
          <p:cNvPr id="4" name="Shape 2"/>
          <p:cNvSpPr/>
          <p:nvPr/>
        </p:nvSpPr>
        <p:spPr>
          <a:xfrm>
            <a:off x="548640" y="1417320"/>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Shape 3"/>
          <p:cNvSpPr/>
          <p:nvPr/>
        </p:nvSpPr>
        <p:spPr>
          <a:xfrm>
            <a:off x="868680" y="1691640"/>
            <a:ext cx="502920" cy="502920"/>
          </a:xfrm>
          <a:prstGeom prst="ellipse">
            <a:avLst/>
          </a:prstGeom>
          <a:solidFill>
            <a:srgbClr val="0D9488"/>
          </a:solidFill>
          <a:ln/>
        </p:spPr>
        <p:txBody>
          <a:bodyPr/>
          <a:p/>
        </p:txBody>
      </p:sp>
      <p:sp>
        <p:nvSpPr>
          <p:cNvPr id="6" name="Text 4"/>
          <p:cNvSpPr/>
          <p:nvPr/>
        </p:nvSpPr>
        <p:spPr>
          <a:xfrm>
            <a:off x="868680"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645920" y="1545336"/>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Agents are crossing into real work</a:t>
            </a:r>
            <a:endParaRPr lang="en-US" sz="1800" dirty="0"/>
          </a:p>
        </p:txBody>
      </p:sp>
      <p:sp>
        <p:nvSpPr>
          <p:cNvPr id="8" name="Text 6"/>
          <p:cNvSpPr/>
          <p:nvPr/>
        </p:nvSpPr>
        <p:spPr>
          <a:xfrm>
            <a:off x="1645920" y="1947672"/>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They now touch repos, databases, email, money, and customer data — not demos.</a:t>
            </a:r>
            <a:endParaRPr lang="en-US" sz="1450" dirty="0"/>
          </a:p>
        </p:txBody>
      </p:sp>
      <p:sp>
        <p:nvSpPr>
          <p:cNvPr id="9" name="Shape 7"/>
          <p:cNvSpPr/>
          <p:nvPr/>
        </p:nvSpPr>
        <p:spPr>
          <a:xfrm>
            <a:off x="548640" y="2624328"/>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0" name="Shape 8"/>
          <p:cNvSpPr/>
          <p:nvPr/>
        </p:nvSpPr>
        <p:spPr>
          <a:xfrm>
            <a:off x="868680" y="2898648"/>
            <a:ext cx="502920" cy="502920"/>
          </a:xfrm>
          <a:prstGeom prst="ellipse">
            <a:avLst/>
          </a:prstGeom>
          <a:solidFill>
            <a:srgbClr val="0D9488"/>
          </a:solidFill>
          <a:ln/>
        </p:spPr>
        <p:txBody>
          <a:bodyPr/>
          <a:p/>
        </p:txBody>
      </p:sp>
      <p:sp>
        <p:nvSpPr>
          <p:cNvPr id="11" name="Text 9"/>
          <p:cNvSpPr/>
          <p:nvPr/>
        </p:nvSpPr>
        <p:spPr>
          <a:xfrm>
            <a:off x="868680" y="289864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1645920" y="2752344"/>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The blocker is governance, not capability</a:t>
            </a:r>
            <a:endParaRPr lang="en-US" sz="1800" dirty="0"/>
          </a:p>
        </p:txBody>
      </p:sp>
      <p:sp>
        <p:nvSpPr>
          <p:cNvPr id="13" name="Text 11"/>
          <p:cNvSpPr/>
          <p:nvPr/>
        </p:nvSpPr>
        <p:spPr>
          <a:xfrm>
            <a:off x="1645920" y="3154680"/>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Security, platform, and risk teams are the gatekeepers — and have no agent-native tooling.</a:t>
            </a:r>
            <a:endParaRPr lang="en-US" sz="1450" dirty="0"/>
          </a:p>
        </p:txBody>
      </p:sp>
      <p:sp>
        <p:nvSpPr>
          <p:cNvPr id="14" name="Shape 12"/>
          <p:cNvSpPr/>
          <p:nvPr/>
        </p:nvSpPr>
        <p:spPr>
          <a:xfrm>
            <a:off x="548640" y="3831336"/>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5" name="Shape 13"/>
          <p:cNvSpPr/>
          <p:nvPr/>
        </p:nvSpPr>
        <p:spPr>
          <a:xfrm>
            <a:off x="868680" y="4105656"/>
            <a:ext cx="502920" cy="502920"/>
          </a:xfrm>
          <a:prstGeom prst="ellipse">
            <a:avLst/>
          </a:prstGeom>
          <a:solidFill>
            <a:srgbClr val="0D9488"/>
          </a:solidFill>
          <a:ln/>
        </p:spPr>
        <p:txBody>
          <a:bodyPr/>
          <a:p/>
        </p:txBody>
      </p:sp>
      <p:sp>
        <p:nvSpPr>
          <p:cNvPr id="16" name="Text 14"/>
          <p:cNvSpPr/>
          <p:nvPr/>
        </p:nvSpPr>
        <p:spPr>
          <a:xfrm>
            <a:off x="868680" y="4105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1645920" y="3959352"/>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Existing tools don't fit</a:t>
            </a:r>
            <a:endParaRPr lang="en-US" sz="1800" dirty="0"/>
          </a:p>
        </p:txBody>
      </p:sp>
      <p:sp>
        <p:nvSpPr>
          <p:cNvPr id="18" name="Text 16"/>
          <p:cNvSpPr/>
          <p:nvPr/>
        </p:nvSpPr>
        <p:spPr>
          <a:xfrm>
            <a:off x="1645920" y="4361688"/>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SIEM/EDR don't grasp agent intent; LLM guardrails only watch prompts, not effects.</a:t>
            </a:r>
            <a:endParaRPr lang="en-US" sz="1450" dirty="0"/>
          </a:p>
        </p:txBody>
      </p:sp>
      <p:sp>
        <p:nvSpPr>
          <p:cNvPr id="19" name="Shape 17"/>
          <p:cNvSpPr/>
          <p:nvPr/>
        </p:nvSpPr>
        <p:spPr>
          <a:xfrm>
            <a:off x="548640" y="5038344"/>
            <a:ext cx="1106424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0" name="Shape 18"/>
          <p:cNvSpPr/>
          <p:nvPr/>
        </p:nvSpPr>
        <p:spPr>
          <a:xfrm>
            <a:off x="868680" y="5312664"/>
            <a:ext cx="502920" cy="502920"/>
          </a:xfrm>
          <a:prstGeom prst="ellipse">
            <a:avLst/>
          </a:prstGeom>
          <a:solidFill>
            <a:srgbClr val="0D9488"/>
          </a:solidFill>
          <a:ln/>
        </p:spPr>
        <p:txBody>
          <a:bodyPr/>
          <a:p/>
        </p:txBody>
      </p:sp>
      <p:sp>
        <p:nvSpPr>
          <p:cNvPr id="21" name="Text 19"/>
          <p:cNvSpPr/>
          <p:nvPr/>
        </p:nvSpPr>
        <p:spPr>
          <a:xfrm>
            <a:off x="868680" y="531266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1645920" y="5166360"/>
            <a:ext cx="969264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The category is forming right now</a:t>
            </a:r>
            <a:endParaRPr lang="en-US" sz="1800" dirty="0"/>
          </a:p>
        </p:txBody>
      </p:sp>
      <p:sp>
        <p:nvSpPr>
          <p:cNvPr id="23" name="Text 21"/>
          <p:cNvSpPr/>
          <p:nvPr/>
        </p:nvSpPr>
        <p:spPr>
          <a:xfrm>
            <a:off x="1645920" y="5568696"/>
            <a:ext cx="9692640" cy="41148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“Agent control plane” has no clear winner yet. Early + opinionated wins.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Who we serve</a:t>
            </a:r>
            <a:endParaRPr lang="en-US" sz="3000" dirty="0"/>
          </a:p>
        </p:txBody>
      </p:sp>
      <p:sp>
        <p:nvSpPr>
          <p:cNvPr id="4" name="Shape 2"/>
          <p:cNvSpPr/>
          <p:nvPr/>
        </p:nvSpPr>
        <p:spPr>
          <a:xfrm>
            <a:off x="548640" y="1463040"/>
            <a:ext cx="548640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Text 3"/>
          <p:cNvSpPr/>
          <p:nvPr/>
        </p:nvSpPr>
        <p:spPr>
          <a:xfrm>
            <a:off x="868680" y="1691640"/>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PRIMARY — THE BUYER &amp; USER</a:t>
            </a:r>
            <a:endParaRPr lang="en-US" sz="1200" dirty="0"/>
          </a:p>
        </p:txBody>
      </p:sp>
      <p:sp>
        <p:nvSpPr>
          <p:cNvPr id="6" name="Text 4"/>
          <p:cNvSpPr/>
          <p:nvPr/>
        </p:nvSpPr>
        <p:spPr>
          <a:xfrm>
            <a:off x="868680" y="2011680"/>
            <a:ext cx="4846320" cy="64008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The team that has to say “yes” to an agent</a:t>
            </a:r>
            <a:endParaRPr lang="en-US" sz="1900" dirty="0"/>
          </a:p>
        </p:txBody>
      </p:sp>
      <p:sp>
        <p:nvSpPr>
          <p:cNvPr id="7" name="Text 5"/>
          <p:cNvSpPr/>
          <p:nvPr/>
        </p:nvSpPr>
        <p:spPr>
          <a:xfrm>
            <a:off x="868680" y="2697480"/>
            <a:ext cx="4846320" cy="91440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Security, platform, and engineering leads who want to enable agents without betting the company on blind trust.</a:t>
            </a:r>
            <a:endParaRPr lang="en-US" sz="1450" dirty="0"/>
          </a:p>
        </p:txBody>
      </p:sp>
      <p:sp>
        <p:nvSpPr>
          <p:cNvPr id="8" name="Shape 6"/>
          <p:cNvSpPr/>
          <p:nvPr/>
        </p:nvSpPr>
        <p:spPr>
          <a:xfrm>
            <a:off x="6217920" y="1463040"/>
            <a:ext cx="539496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9" name="Text 7"/>
          <p:cNvSpPr/>
          <p:nvPr/>
        </p:nvSpPr>
        <p:spPr>
          <a:xfrm>
            <a:off x="6537960" y="1691640"/>
            <a:ext cx="731520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SECONDARY — BENEFICIARY</a:t>
            </a:r>
            <a:endParaRPr lang="en-US" sz="1200" dirty="0"/>
          </a:p>
        </p:txBody>
      </p:sp>
      <p:sp>
        <p:nvSpPr>
          <p:cNvPr id="10" name="Text 8"/>
          <p:cNvSpPr/>
          <p:nvPr/>
        </p:nvSpPr>
        <p:spPr>
          <a:xfrm>
            <a:off x="6537960" y="2011680"/>
            <a:ext cx="475488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The agent builder</a:t>
            </a:r>
            <a:endParaRPr lang="en-US" sz="1900" dirty="0"/>
          </a:p>
        </p:txBody>
      </p:sp>
      <p:sp>
        <p:nvSpPr>
          <p:cNvPr id="11" name="Text 9"/>
          <p:cNvSpPr/>
          <p:nvPr/>
        </p:nvSpPr>
        <p:spPr>
          <a:xfrm>
            <a:off x="6537960" y="2697480"/>
            <a:ext cx="4754880" cy="91440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Gets a faster path to “approved for production,” because the governance story already exists.</a:t>
            </a:r>
            <a:endParaRPr lang="en-US" sz="1450" dirty="0"/>
          </a:p>
        </p:txBody>
      </p:sp>
      <p:sp>
        <p:nvSpPr>
          <p:cNvPr id="12" name="Shape 10"/>
          <p:cNvSpPr/>
          <p:nvPr/>
        </p:nvSpPr>
        <p:spPr>
          <a:xfrm>
            <a:off x="548640" y="3977640"/>
            <a:ext cx="11064240" cy="2148840"/>
          </a:xfrm>
          <a:prstGeom prst="roundRect">
            <a:avLst>
              <a:gd name="adj" fmla="val 3404"/>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3" name="Text 11"/>
          <p:cNvSpPr/>
          <p:nvPr/>
        </p:nvSpPr>
        <p:spPr>
          <a:xfrm>
            <a:off x="868680" y="4224528"/>
            <a:ext cx="10058400" cy="32004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THEIR JOB-TO-BE-DONE</a:t>
            </a:r>
            <a:endParaRPr lang="en-US" sz="1200" dirty="0"/>
          </a:p>
        </p:txBody>
      </p:sp>
      <p:sp>
        <p:nvSpPr>
          <p:cNvPr id="14" name="Text 12"/>
          <p:cNvSpPr/>
          <p:nvPr/>
        </p:nvSpPr>
        <p:spPr>
          <a:xfrm>
            <a:off x="868680" y="4617720"/>
            <a:ext cx="10424160" cy="1280160"/>
          </a:xfrm>
          <a:prstGeom prst="rect">
            <a:avLst/>
          </a:prstGeom>
          <a:noFill/>
          <a:ln/>
        </p:spPr>
        <p:txBody>
          <a:bodyPr wrap="square" lIns="0" tIns="0" rIns="0" bIns="0" rtlCol="0" anchor="ctr"/>
          <a:lstStyle/>
          <a:p>
            <a:pPr indent="0" marL="0">
              <a:lnSpc>
                <a:spcPct val="110000"/>
              </a:lnSpc>
              <a:buNone/>
            </a:pPr>
            <a:r>
              <a:rPr lang="en-US" sz="2100" i="1" dirty="0">
                <a:solidFill>
                  <a:srgbClr val="FFFFFF"/>
                </a:solidFill>
                <a:latin typeface="Georgia" pitchFamily="34" charset="0"/>
                <a:ea typeface="Georgia" pitchFamily="34" charset="-122"/>
                <a:cs typeface="Georgia" pitchFamily="34" charset="-120"/>
              </a:rPr>
              <a:t>“Let me adopt this agent and still be able to answer, at any moment, what it did and why — and stop it when it's about to do something I wouldn't allow.”</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Audit the boundary, not the brain</a:t>
            </a:r>
            <a:endParaRPr lang="en-US" sz="3000" dirty="0"/>
          </a:p>
        </p:txBody>
      </p:sp>
      <p:sp>
        <p:nvSpPr>
          <p:cNvPr id="4" name="Text 2"/>
          <p:cNvSpPr/>
          <p:nvPr/>
        </p:nvSpPr>
        <p:spPr>
          <a:xfrm>
            <a:off x="548640" y="1234440"/>
            <a:ext cx="11064240" cy="640080"/>
          </a:xfrm>
          <a:prstGeom prst="rect">
            <a:avLst/>
          </a:prstGeom>
          <a:noFill/>
          <a:ln/>
        </p:spPr>
        <p:txBody>
          <a:bodyPr wrap="square" lIns="0" tIns="0" rIns="0" bIns="0" rtlCol="0" anchor="ctr"/>
          <a:lstStyle/>
          <a:p>
            <a:pPr indent="0" marL="0">
              <a:lnSpc>
                <a:spcPct val="105000"/>
              </a:lnSpc>
              <a:buNone/>
            </a:pPr>
            <a:r>
              <a:rPr lang="en-US" sz="1550" dirty="0">
                <a:solidFill>
                  <a:srgbClr val="64748B"/>
                </a:solidFill>
                <a:latin typeface="Calibri" pitchFamily="34" charset="0"/>
                <a:ea typeface="Calibri" pitchFamily="34" charset="-122"/>
                <a:cs typeface="Calibri" pitchFamily="34" charset="-120"/>
              </a:rPr>
              <a:t>We don't need every internal thought the model had — we need every action that crosses into a real system, captured at one place that records AND controls.</a:t>
            </a:r>
            <a:endParaRPr lang="en-US" sz="1550" dirty="0"/>
          </a:p>
        </p:txBody>
      </p:sp>
      <p:sp>
        <p:nvSpPr>
          <p:cNvPr id="5" name="Shape 3"/>
          <p:cNvSpPr/>
          <p:nvPr/>
        </p:nvSpPr>
        <p:spPr>
          <a:xfrm>
            <a:off x="54864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6" name="Shape 4"/>
          <p:cNvSpPr/>
          <p:nvPr/>
        </p:nvSpPr>
        <p:spPr>
          <a:xfrm>
            <a:off x="548640" y="2057400"/>
            <a:ext cx="3429000" cy="109728"/>
          </a:xfrm>
          <a:prstGeom prst="rect">
            <a:avLst/>
          </a:prstGeom>
          <a:solidFill>
            <a:srgbClr val="0D9488"/>
          </a:solidFill>
          <a:ln/>
        </p:spPr>
        <p:txBody>
          <a:bodyPr/>
          <a:p/>
        </p:txBody>
      </p:sp>
      <p:sp>
        <p:nvSpPr>
          <p:cNvPr id="7" name="Text 5"/>
          <p:cNvSpPr/>
          <p:nvPr/>
        </p:nvSpPr>
        <p:spPr>
          <a:xfrm>
            <a:off x="82296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Decision</a:t>
            </a:r>
            <a:endParaRPr lang="en-US" sz="2200" dirty="0"/>
          </a:p>
        </p:txBody>
      </p:sp>
      <p:sp>
        <p:nvSpPr>
          <p:cNvPr id="8" name="Text 6"/>
          <p:cNvSpPr/>
          <p:nvPr/>
        </p:nvSpPr>
        <p:spPr>
          <a:xfrm>
            <a:off x="822960" y="2834640"/>
            <a:ext cx="2926080" cy="36576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WHY it acted</a:t>
            </a:r>
            <a:endParaRPr lang="en-US" sz="1400" dirty="0"/>
          </a:p>
        </p:txBody>
      </p:sp>
      <p:sp>
        <p:nvSpPr>
          <p:cNvPr id="9" name="Text 7"/>
          <p:cNvSpPr/>
          <p:nvPr/>
        </p:nvSpPr>
        <p:spPr>
          <a:xfrm>
            <a:off x="82296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the model's request / reasoning</a:t>
            </a:r>
            <a:endParaRPr lang="en-US" sz="1400" dirty="0"/>
          </a:p>
        </p:txBody>
      </p:sp>
      <p:sp>
        <p:nvSpPr>
          <p:cNvPr id="10" name="Shape 8"/>
          <p:cNvSpPr/>
          <p:nvPr/>
        </p:nvSpPr>
        <p:spPr>
          <a:xfrm>
            <a:off x="425196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1" name="Shape 9"/>
          <p:cNvSpPr/>
          <p:nvPr/>
        </p:nvSpPr>
        <p:spPr>
          <a:xfrm>
            <a:off x="4251960" y="2057400"/>
            <a:ext cx="3429000" cy="109728"/>
          </a:xfrm>
          <a:prstGeom prst="rect">
            <a:avLst/>
          </a:prstGeom>
          <a:solidFill>
            <a:srgbClr val="14B8A6"/>
          </a:solidFill>
          <a:ln/>
        </p:spPr>
        <p:txBody>
          <a:bodyPr/>
          <a:p/>
        </p:txBody>
      </p:sp>
      <p:sp>
        <p:nvSpPr>
          <p:cNvPr id="12" name="Text 10"/>
          <p:cNvSpPr/>
          <p:nvPr/>
        </p:nvSpPr>
        <p:spPr>
          <a:xfrm>
            <a:off x="452628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Intent</a:t>
            </a:r>
            <a:endParaRPr lang="en-US" sz="2200" dirty="0"/>
          </a:p>
        </p:txBody>
      </p:sp>
      <p:sp>
        <p:nvSpPr>
          <p:cNvPr id="13" name="Text 11"/>
          <p:cNvSpPr/>
          <p:nvPr/>
        </p:nvSpPr>
        <p:spPr>
          <a:xfrm>
            <a:off x="4526280" y="2834640"/>
            <a:ext cx="2926080" cy="36576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it meant to do</a:t>
            </a:r>
            <a:endParaRPr lang="en-US" sz="1400" dirty="0"/>
          </a:p>
        </p:txBody>
      </p:sp>
      <p:sp>
        <p:nvSpPr>
          <p:cNvPr id="14" name="Text 12"/>
          <p:cNvSpPr/>
          <p:nvPr/>
        </p:nvSpPr>
        <p:spPr>
          <a:xfrm>
            <a:off x="452628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the tool or command it invoked</a:t>
            </a:r>
            <a:endParaRPr lang="en-US" sz="1400" dirty="0"/>
          </a:p>
        </p:txBody>
      </p:sp>
      <p:sp>
        <p:nvSpPr>
          <p:cNvPr id="15" name="Shape 13"/>
          <p:cNvSpPr/>
          <p:nvPr/>
        </p:nvSpPr>
        <p:spPr>
          <a:xfrm>
            <a:off x="7955280" y="2057400"/>
            <a:ext cx="342900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6" name="Shape 14"/>
          <p:cNvSpPr/>
          <p:nvPr/>
        </p:nvSpPr>
        <p:spPr>
          <a:xfrm>
            <a:off x="7955280" y="2057400"/>
            <a:ext cx="3429000" cy="109728"/>
          </a:xfrm>
          <a:prstGeom prst="rect">
            <a:avLst/>
          </a:prstGeom>
          <a:solidFill>
            <a:srgbClr val="475569"/>
          </a:solidFill>
          <a:ln/>
        </p:spPr>
        <p:txBody>
          <a:bodyPr/>
          <a:p/>
        </p:txBody>
      </p:sp>
      <p:sp>
        <p:nvSpPr>
          <p:cNvPr id="17" name="Text 15"/>
          <p:cNvSpPr/>
          <p:nvPr/>
        </p:nvSpPr>
        <p:spPr>
          <a:xfrm>
            <a:off x="8229600" y="2286000"/>
            <a:ext cx="2926080" cy="50292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Effect</a:t>
            </a:r>
            <a:endParaRPr lang="en-US" sz="2200" dirty="0"/>
          </a:p>
        </p:txBody>
      </p:sp>
      <p:sp>
        <p:nvSpPr>
          <p:cNvPr id="18" name="Text 16"/>
          <p:cNvSpPr/>
          <p:nvPr/>
        </p:nvSpPr>
        <p:spPr>
          <a:xfrm>
            <a:off x="8229600" y="2834640"/>
            <a:ext cx="2926080" cy="365760"/>
          </a:xfrm>
          <a:prstGeom prst="rect">
            <a:avLst/>
          </a:prstGeom>
          <a:noFill/>
          <a:ln/>
        </p:spPr>
        <p:txBody>
          <a:bodyPr wrap="square" lIns="0" tIns="0" rIns="0" bIns="0" rtlCol="0" anchor="ctr"/>
          <a:lstStyle/>
          <a:p>
            <a:pPr indent="0" marL="0">
              <a:buNone/>
            </a:pPr>
            <a:r>
              <a:rPr lang="en-US" sz="1400" b="1" dirty="0">
                <a:solidFill>
                  <a:srgbClr val="475569"/>
                </a:solidFill>
                <a:latin typeface="Calibri" pitchFamily="34" charset="0"/>
                <a:ea typeface="Calibri" pitchFamily="34" charset="-122"/>
                <a:cs typeface="Calibri" pitchFamily="34" charset="-120"/>
              </a:rPr>
              <a:t>WHAT actually happened</a:t>
            </a:r>
            <a:endParaRPr lang="en-US" sz="1400" dirty="0"/>
          </a:p>
        </p:txBody>
      </p:sp>
      <p:sp>
        <p:nvSpPr>
          <p:cNvPr id="19" name="Text 17"/>
          <p:cNvSpPr/>
          <p:nvPr/>
        </p:nvSpPr>
        <p:spPr>
          <a:xfrm>
            <a:off x="8229600" y="3246120"/>
            <a:ext cx="2926080" cy="777240"/>
          </a:xfrm>
          <a:prstGeom prst="rect">
            <a:avLst/>
          </a:prstGeom>
          <a:noFill/>
          <a:ln/>
        </p:spPr>
        <p:txBody>
          <a:bodyPr wrap="square" lIns="0" tIns="0" rIns="0" bIns="0" rtlCol="0" anchor="ctr"/>
          <a:lstStyle/>
          <a:p>
            <a:pPr indent="0" marL="0">
              <a:lnSpc>
                <a:spcPct val="105000"/>
              </a:lnSpc>
              <a:buNone/>
            </a:pPr>
            <a:r>
              <a:rPr lang="en-US" sz="1400" dirty="0">
                <a:solidFill>
                  <a:srgbClr val="64748B"/>
                </a:solidFill>
                <a:latin typeface="Calibri" pitchFamily="34" charset="0"/>
                <a:ea typeface="Calibri" pitchFamily="34" charset="-122"/>
                <a:cs typeface="Calibri" pitchFamily="34" charset="-120"/>
              </a:rPr>
              <a:t>file opened, process run, socket opened</a:t>
            </a:r>
            <a:endParaRPr lang="en-US" sz="1400" dirty="0"/>
          </a:p>
        </p:txBody>
      </p:sp>
      <p:sp>
        <p:nvSpPr>
          <p:cNvPr id="20" name="Shape 18"/>
          <p:cNvSpPr/>
          <p:nvPr/>
        </p:nvSpPr>
        <p:spPr>
          <a:xfrm>
            <a:off x="548640" y="4526280"/>
            <a:ext cx="11064240" cy="1554480"/>
          </a:xfrm>
          <a:prstGeom prst="roundRect">
            <a:avLst>
              <a:gd name="adj" fmla="val 4706"/>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1" name="Text 19"/>
          <p:cNvSpPr/>
          <p:nvPr/>
        </p:nvSpPr>
        <p:spPr>
          <a:xfrm>
            <a:off x="868680" y="4800600"/>
            <a:ext cx="10424160" cy="1005840"/>
          </a:xfrm>
          <a:prstGeom prst="rect">
            <a:avLst/>
          </a:prstGeom>
          <a:noFill/>
          <a:ln/>
        </p:spPr>
        <p:txBody>
          <a:bodyPr wrap="square" lIns="0" tIns="0" rIns="0" bIns="0" rtlCol="0" anchor="ctr"/>
          <a:lstStyle/>
          <a:p>
            <a:pPr indent="0" marL="0">
              <a:lnSpc>
                <a:spcPct val="108000"/>
              </a:lnSpc>
              <a:buNone/>
            </a:pPr>
            <a:r>
              <a:rPr lang="en-US" sz="1900" b="1" i="1" dirty="0">
                <a:solidFill>
                  <a:srgbClr val="5EEAD4"/>
                </a:solidFill>
                <a:latin typeface="Georgia" pitchFamily="34" charset="0"/>
                <a:ea typeface="Georgia" pitchFamily="34" charset="-122"/>
                <a:cs typeface="Georgia" pitchFamily="34" charset="-120"/>
              </a:rPr>
              <a:t>The gold is the disagreement.  </a:t>
            </a:r>
            <a:pPr indent="0" marL="0">
              <a:lnSpc>
                <a:spcPct val="108000"/>
              </a:lnSpc>
              <a:buNone/>
            </a:pPr>
            <a:r>
              <a:rPr lang="en-US" sz="1900" i="1" dirty="0">
                <a:solidFill>
                  <a:srgbClr val="FFFFFF"/>
                </a:solidFill>
                <a:latin typeface="Georgia" pitchFamily="34" charset="0"/>
                <a:ea typeface="Georgia" pitchFamily="34" charset="-122"/>
                <a:cs typeface="Georgia" pitchFamily="34" charset="-120"/>
              </a:rPr>
              <a:t>“Claimed to read config.yaml, actually opened .env.” A logger captures layers; an auditor reconciles them.</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hero loop — policy by demonstration</a:t>
            </a:r>
            <a:endParaRPr lang="en-US" sz="3000" dirty="0"/>
          </a:p>
        </p:txBody>
      </p:sp>
      <p:sp>
        <p:nvSpPr>
          <p:cNvPr id="4" name="Shape 2"/>
          <p:cNvSpPr/>
          <p:nvPr/>
        </p:nvSpPr>
        <p:spPr>
          <a:xfrm>
            <a:off x="54864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Shape 3"/>
          <p:cNvSpPr/>
          <p:nvPr/>
        </p:nvSpPr>
        <p:spPr>
          <a:xfrm>
            <a:off x="804672" y="1810512"/>
            <a:ext cx="548640" cy="548640"/>
          </a:xfrm>
          <a:prstGeom prst="ellipse">
            <a:avLst/>
          </a:prstGeom>
          <a:solidFill>
            <a:srgbClr val="0F172A"/>
          </a:solidFill>
          <a:ln/>
        </p:spPr>
        <p:txBody>
          <a:bodyPr/>
          <a:p/>
        </p:txBody>
      </p:sp>
      <p:sp>
        <p:nvSpPr>
          <p:cNvPr id="6" name="Text 4"/>
          <p:cNvSpPr/>
          <p:nvPr/>
        </p:nvSpPr>
        <p:spPr>
          <a:xfrm>
            <a:off x="80467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50876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Record</a:t>
            </a:r>
            <a:endParaRPr lang="en-US" sz="1700" dirty="0"/>
          </a:p>
        </p:txBody>
      </p:sp>
      <p:sp>
        <p:nvSpPr>
          <p:cNvPr id="8" name="Text 6"/>
          <p:cNvSpPr/>
          <p:nvPr/>
        </p:nvSpPr>
        <p:spPr>
          <a:xfrm>
            <a:off x="82296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 run → one unified action flow</a:t>
            </a:r>
            <a:endParaRPr lang="en-US" sz="1350" dirty="0"/>
          </a:p>
        </p:txBody>
      </p:sp>
      <p:sp>
        <p:nvSpPr>
          <p:cNvPr id="9" name="Shape 7"/>
          <p:cNvSpPr/>
          <p:nvPr/>
        </p:nvSpPr>
        <p:spPr>
          <a:xfrm>
            <a:off x="425196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0" name="Shape 8"/>
          <p:cNvSpPr/>
          <p:nvPr/>
        </p:nvSpPr>
        <p:spPr>
          <a:xfrm>
            <a:off x="4507992" y="1810512"/>
            <a:ext cx="548640" cy="548640"/>
          </a:xfrm>
          <a:prstGeom prst="ellipse">
            <a:avLst/>
          </a:prstGeom>
          <a:solidFill>
            <a:srgbClr val="0F172A"/>
          </a:solidFill>
          <a:ln/>
        </p:spPr>
        <p:txBody>
          <a:bodyPr/>
          <a:p/>
        </p:txBody>
      </p:sp>
      <p:sp>
        <p:nvSpPr>
          <p:cNvPr id="11" name="Text 9"/>
          <p:cNvSpPr/>
          <p:nvPr/>
        </p:nvSpPr>
        <p:spPr>
          <a:xfrm>
            <a:off x="450799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2" name="Text 10"/>
          <p:cNvSpPr/>
          <p:nvPr/>
        </p:nvSpPr>
        <p:spPr>
          <a:xfrm>
            <a:off x="521208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Show</a:t>
            </a:r>
            <a:endParaRPr lang="en-US" sz="1700" dirty="0"/>
          </a:p>
        </p:txBody>
      </p:sp>
      <p:sp>
        <p:nvSpPr>
          <p:cNvPr id="13" name="Text 11"/>
          <p:cNvSpPr/>
          <p:nvPr/>
        </p:nvSpPr>
        <p:spPr>
          <a:xfrm>
            <a:off x="452628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every action, in order</a:t>
            </a:r>
            <a:endParaRPr lang="en-US" sz="1350" dirty="0"/>
          </a:p>
        </p:txBody>
      </p:sp>
      <p:sp>
        <p:nvSpPr>
          <p:cNvPr id="14" name="Shape 12"/>
          <p:cNvSpPr/>
          <p:nvPr/>
        </p:nvSpPr>
        <p:spPr>
          <a:xfrm>
            <a:off x="7955280" y="155448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5" name="Shape 13"/>
          <p:cNvSpPr/>
          <p:nvPr/>
        </p:nvSpPr>
        <p:spPr>
          <a:xfrm>
            <a:off x="8211312" y="1810512"/>
            <a:ext cx="548640" cy="548640"/>
          </a:xfrm>
          <a:prstGeom prst="ellipse">
            <a:avLst/>
          </a:prstGeom>
          <a:solidFill>
            <a:srgbClr val="F59E0B"/>
          </a:solidFill>
          <a:ln/>
        </p:spPr>
        <p:txBody>
          <a:bodyPr/>
          <a:p/>
        </p:txBody>
      </p:sp>
      <p:sp>
        <p:nvSpPr>
          <p:cNvPr id="16" name="Text 14"/>
          <p:cNvSpPr/>
          <p:nvPr/>
        </p:nvSpPr>
        <p:spPr>
          <a:xfrm>
            <a:off x="8211312"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7" name="Text 15"/>
          <p:cNvSpPr/>
          <p:nvPr/>
        </p:nvSpPr>
        <p:spPr>
          <a:xfrm>
            <a:off x="8915400" y="179222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Allow / Block</a:t>
            </a:r>
            <a:endParaRPr lang="en-US" sz="1700" dirty="0"/>
          </a:p>
        </p:txBody>
      </p:sp>
      <p:sp>
        <p:nvSpPr>
          <p:cNvPr id="18" name="Text 16"/>
          <p:cNvSpPr/>
          <p:nvPr/>
        </p:nvSpPr>
        <p:spPr>
          <a:xfrm>
            <a:off x="8229600" y="239572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 human reacts to what happened</a:t>
            </a:r>
            <a:endParaRPr lang="en-US" sz="1350" dirty="0"/>
          </a:p>
        </p:txBody>
      </p:sp>
      <p:sp>
        <p:nvSpPr>
          <p:cNvPr id="19" name="Shape 17"/>
          <p:cNvSpPr/>
          <p:nvPr/>
        </p:nvSpPr>
        <p:spPr>
          <a:xfrm>
            <a:off x="54864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0" name="Shape 18"/>
          <p:cNvSpPr/>
          <p:nvPr/>
        </p:nvSpPr>
        <p:spPr>
          <a:xfrm>
            <a:off x="804672" y="3593592"/>
            <a:ext cx="548640" cy="548640"/>
          </a:xfrm>
          <a:prstGeom prst="ellipse">
            <a:avLst/>
          </a:prstGeom>
          <a:solidFill>
            <a:srgbClr val="0F172A"/>
          </a:solidFill>
          <a:ln/>
        </p:spPr>
        <p:txBody>
          <a:bodyPr/>
          <a:p/>
        </p:txBody>
      </p:sp>
      <p:sp>
        <p:nvSpPr>
          <p:cNvPr id="21" name="Text 19"/>
          <p:cNvSpPr/>
          <p:nvPr/>
        </p:nvSpPr>
        <p:spPr>
          <a:xfrm>
            <a:off x="80467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2" name="Text 20"/>
          <p:cNvSpPr/>
          <p:nvPr/>
        </p:nvSpPr>
        <p:spPr>
          <a:xfrm>
            <a:off x="150876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Recommend</a:t>
            </a:r>
            <a:endParaRPr lang="en-US" sz="1700" dirty="0"/>
          </a:p>
        </p:txBody>
      </p:sp>
      <p:sp>
        <p:nvSpPr>
          <p:cNvPr id="23" name="Text 21"/>
          <p:cNvSpPr/>
          <p:nvPr/>
        </p:nvSpPr>
        <p:spPr>
          <a:xfrm>
            <a:off x="82296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AI drafts reusable rules — with reasons</a:t>
            </a:r>
            <a:endParaRPr lang="en-US" sz="1350" dirty="0"/>
          </a:p>
        </p:txBody>
      </p:sp>
      <p:sp>
        <p:nvSpPr>
          <p:cNvPr id="24" name="Shape 22"/>
          <p:cNvSpPr/>
          <p:nvPr/>
        </p:nvSpPr>
        <p:spPr>
          <a:xfrm>
            <a:off x="425196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5" name="Shape 23"/>
          <p:cNvSpPr/>
          <p:nvPr/>
        </p:nvSpPr>
        <p:spPr>
          <a:xfrm>
            <a:off x="4507992" y="3593592"/>
            <a:ext cx="548640" cy="548640"/>
          </a:xfrm>
          <a:prstGeom prst="ellipse">
            <a:avLst/>
          </a:prstGeom>
          <a:solidFill>
            <a:srgbClr val="0D9488"/>
          </a:solidFill>
          <a:ln/>
        </p:spPr>
        <p:txBody>
          <a:bodyPr/>
          <a:p/>
        </p:txBody>
      </p:sp>
      <p:sp>
        <p:nvSpPr>
          <p:cNvPr id="26" name="Text 24"/>
          <p:cNvSpPr/>
          <p:nvPr/>
        </p:nvSpPr>
        <p:spPr>
          <a:xfrm>
            <a:off x="450799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7" name="Text 25"/>
          <p:cNvSpPr/>
          <p:nvPr/>
        </p:nvSpPr>
        <p:spPr>
          <a:xfrm>
            <a:off x="521208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Enforce</a:t>
            </a:r>
            <a:endParaRPr lang="en-US" sz="1700" dirty="0"/>
          </a:p>
        </p:txBody>
      </p:sp>
      <p:sp>
        <p:nvSpPr>
          <p:cNvPr id="28" name="Text 26"/>
          <p:cNvSpPr/>
          <p:nvPr/>
        </p:nvSpPr>
        <p:spPr>
          <a:xfrm>
            <a:off x="452628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next run: observe → alert → block</a:t>
            </a:r>
            <a:endParaRPr lang="en-US" sz="1350" dirty="0"/>
          </a:p>
        </p:txBody>
      </p:sp>
      <p:sp>
        <p:nvSpPr>
          <p:cNvPr id="29" name="Shape 27"/>
          <p:cNvSpPr/>
          <p:nvPr/>
        </p:nvSpPr>
        <p:spPr>
          <a:xfrm>
            <a:off x="7955280" y="3337560"/>
            <a:ext cx="3429000" cy="1508760"/>
          </a:xfrm>
          <a:prstGeom prst="roundRect">
            <a:avLst>
              <a:gd name="adj" fmla="val 4848"/>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30" name="Shape 28"/>
          <p:cNvSpPr/>
          <p:nvPr/>
        </p:nvSpPr>
        <p:spPr>
          <a:xfrm>
            <a:off x="8211312" y="3593592"/>
            <a:ext cx="548640" cy="548640"/>
          </a:xfrm>
          <a:prstGeom prst="ellipse">
            <a:avLst/>
          </a:prstGeom>
          <a:solidFill>
            <a:srgbClr val="0D9488"/>
          </a:solidFill>
          <a:ln/>
        </p:spPr>
        <p:txBody>
          <a:bodyPr/>
          <a:p/>
        </p:txBody>
      </p:sp>
      <p:sp>
        <p:nvSpPr>
          <p:cNvPr id="31" name="Text 29"/>
          <p:cNvSpPr/>
          <p:nvPr/>
        </p:nvSpPr>
        <p:spPr>
          <a:xfrm>
            <a:off x="8211312" y="35935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2" name="Text 30"/>
          <p:cNvSpPr/>
          <p:nvPr/>
        </p:nvSpPr>
        <p:spPr>
          <a:xfrm>
            <a:off x="8915400" y="3575304"/>
            <a:ext cx="2286000" cy="45720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Close the loop</a:t>
            </a:r>
            <a:endParaRPr lang="en-US" sz="1700" dirty="0"/>
          </a:p>
        </p:txBody>
      </p:sp>
      <p:sp>
        <p:nvSpPr>
          <p:cNvPr id="33" name="Text 31"/>
          <p:cNvSpPr/>
          <p:nvPr/>
        </p:nvSpPr>
        <p:spPr>
          <a:xfrm>
            <a:off x="8229600" y="4178808"/>
            <a:ext cx="2926080" cy="548640"/>
          </a:xfrm>
          <a:prstGeom prst="rect">
            <a:avLst/>
          </a:prstGeom>
          <a:noFill/>
          <a:ln/>
        </p:spPr>
        <p:txBody>
          <a:bodyPr wrap="square" lIns="0" tIns="0" rIns="0" bIns="0" rtlCol="0" anchor="ctr"/>
          <a:lstStyle/>
          <a:p>
            <a:pPr indent="0" marL="0">
              <a:lnSpc>
                <a:spcPct val="100000"/>
              </a:lnSpc>
              <a:buNone/>
            </a:pPr>
            <a:r>
              <a:rPr lang="en-US" sz="1350" dirty="0">
                <a:solidFill>
                  <a:srgbClr val="64748B"/>
                </a:solidFill>
                <a:latin typeface="Calibri" pitchFamily="34" charset="0"/>
                <a:ea typeface="Calibri" pitchFamily="34" charset="-122"/>
                <a:cs typeface="Calibri" pitchFamily="34" charset="-120"/>
              </a:rPr>
              <a:t>policy catches it next time</a:t>
            </a:r>
            <a:endParaRPr lang="en-US" sz="1350" dirty="0"/>
          </a:p>
        </p:txBody>
      </p:sp>
      <p:sp>
        <p:nvSpPr>
          <p:cNvPr id="34" name="Text 32"/>
          <p:cNvSpPr/>
          <p:nvPr/>
        </p:nvSpPr>
        <p:spPr>
          <a:xfrm>
            <a:off x="548640" y="5257800"/>
            <a:ext cx="11064240" cy="548640"/>
          </a:xfrm>
          <a:prstGeom prst="rect">
            <a:avLst/>
          </a:prstGeom>
          <a:noFill/>
          <a:ln/>
        </p:spPr>
        <p:txBody>
          <a:bodyPr wrap="square" lIns="0" tIns="0" rIns="0" bIns="0" rtlCol="0" anchor="ctr"/>
          <a:lstStyle/>
          <a:p>
            <a:pPr algn="ctr" indent="0" marL="0">
              <a:buNone/>
            </a:pPr>
            <a:r>
              <a:rPr lang="en-US" sz="1600" b="1" i="1" dirty="0">
                <a:solidFill>
                  <a:srgbClr val="0D9488"/>
                </a:solidFill>
                <a:latin typeface="Calibri" pitchFamily="34" charset="0"/>
                <a:ea typeface="Calibri" pitchFamily="34" charset="-122"/>
                <a:cs typeface="Calibri" pitchFamily="34" charset="-120"/>
              </a:rPr>
              <a:t>the round-trip IS the product — every turn, the agent earns a little more trusted autonomy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Architecture at a glance</a:t>
            </a:r>
            <a:endParaRPr lang="en-US" sz="3000" dirty="0"/>
          </a:p>
        </p:txBody>
      </p:sp>
      <p:sp>
        <p:nvSpPr>
          <p:cNvPr id="4" name="Shape 2"/>
          <p:cNvSpPr/>
          <p:nvPr/>
        </p:nvSpPr>
        <p:spPr>
          <a:xfrm>
            <a:off x="548640" y="1463040"/>
            <a:ext cx="11064240" cy="1783080"/>
          </a:xfrm>
          <a:prstGeom prst="roundRect">
            <a:avLst>
              <a:gd name="adj" fmla="val 4103"/>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Text 3"/>
          <p:cNvSpPr/>
          <p:nvPr/>
        </p:nvSpPr>
        <p:spPr>
          <a:xfrm>
            <a:off x="868680" y="1664208"/>
            <a:ext cx="10424160" cy="365760"/>
          </a:xfrm>
          <a:prstGeom prst="rect">
            <a:avLst/>
          </a:prstGeom>
          <a:noFill/>
          <a:ln/>
        </p:spPr>
        <p:txBody>
          <a:bodyPr wrap="square" lIns="0" tIns="0" rIns="0" bIns="0" rtlCol="0" anchor="ctr"/>
          <a:lstStyle/>
          <a:p>
            <a:pPr indent="0" marL="0">
              <a:buNone/>
            </a:pPr>
            <a:r>
              <a:rPr lang="en-US" sz="1300" b="1" spc="200" kern="0" dirty="0">
                <a:solidFill>
                  <a:srgbClr val="5EEAD4"/>
                </a:solidFill>
                <a:latin typeface="Calibri" pitchFamily="34" charset="0"/>
                <a:ea typeface="Calibri" pitchFamily="34" charset="-122"/>
                <a:cs typeface="Calibri" pitchFamily="34" charset="-120"/>
              </a:rPr>
              <a:t>CONTROL PLANE  ·  the carved spine, grown up (central — stays small on purpose)</a:t>
            </a:r>
            <a:endParaRPr lang="en-US" sz="1300" dirty="0"/>
          </a:p>
        </p:txBody>
      </p:sp>
      <p:sp>
        <p:nvSpPr>
          <p:cNvPr id="6" name="Shape 4"/>
          <p:cNvSpPr/>
          <p:nvPr/>
        </p:nvSpPr>
        <p:spPr>
          <a:xfrm>
            <a:off x="868680"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7" name="Text 5"/>
          <p:cNvSpPr/>
          <p:nvPr/>
        </p:nvSpPr>
        <p:spPr>
          <a:xfrm>
            <a:off x="914400"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normalize events</a:t>
            </a:r>
            <a:endParaRPr lang="en-US" sz="1200" dirty="0"/>
          </a:p>
        </p:txBody>
      </p:sp>
      <p:sp>
        <p:nvSpPr>
          <p:cNvPr id="8" name="Shape 6"/>
          <p:cNvSpPr/>
          <p:nvPr/>
        </p:nvSpPr>
        <p:spPr>
          <a:xfrm>
            <a:off x="2660904"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9" name="Text 7"/>
          <p:cNvSpPr/>
          <p:nvPr/>
        </p:nvSpPr>
        <p:spPr>
          <a:xfrm>
            <a:off x="2706624"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correlate → causal trace</a:t>
            </a:r>
            <a:endParaRPr lang="en-US" sz="1200" dirty="0"/>
          </a:p>
        </p:txBody>
      </p:sp>
      <p:sp>
        <p:nvSpPr>
          <p:cNvPr id="10" name="Shape 8"/>
          <p:cNvSpPr/>
          <p:nvPr/>
        </p:nvSpPr>
        <p:spPr>
          <a:xfrm>
            <a:off x="4453128"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11" name="Text 9"/>
          <p:cNvSpPr/>
          <p:nvPr/>
        </p:nvSpPr>
        <p:spPr>
          <a:xfrm>
            <a:off x="4498848"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tamper-evident store</a:t>
            </a:r>
            <a:endParaRPr lang="en-US" sz="1200" dirty="0"/>
          </a:p>
        </p:txBody>
      </p:sp>
      <p:sp>
        <p:nvSpPr>
          <p:cNvPr id="12" name="Shape 10"/>
          <p:cNvSpPr/>
          <p:nvPr/>
        </p:nvSpPr>
        <p:spPr>
          <a:xfrm>
            <a:off x="6245352"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13" name="Text 11"/>
          <p:cNvSpPr/>
          <p:nvPr/>
        </p:nvSpPr>
        <p:spPr>
          <a:xfrm>
            <a:off x="6291072"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evaluate policy</a:t>
            </a:r>
            <a:endParaRPr lang="en-US" sz="1200" dirty="0"/>
          </a:p>
        </p:txBody>
      </p:sp>
      <p:sp>
        <p:nvSpPr>
          <p:cNvPr id="14" name="Shape 12"/>
          <p:cNvSpPr/>
          <p:nvPr/>
        </p:nvSpPr>
        <p:spPr>
          <a:xfrm>
            <a:off x="8037576"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15" name="Text 13"/>
          <p:cNvSpPr/>
          <p:nvPr/>
        </p:nvSpPr>
        <p:spPr>
          <a:xfrm>
            <a:off x="8083296"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verify / reconcile</a:t>
            </a:r>
            <a:endParaRPr lang="en-US" sz="1200" dirty="0"/>
          </a:p>
        </p:txBody>
      </p:sp>
      <p:sp>
        <p:nvSpPr>
          <p:cNvPr id="16" name="Shape 14"/>
          <p:cNvSpPr/>
          <p:nvPr/>
        </p:nvSpPr>
        <p:spPr>
          <a:xfrm>
            <a:off x="9829800" y="2240280"/>
            <a:ext cx="1645920" cy="777240"/>
          </a:xfrm>
          <a:prstGeom prst="roundRect">
            <a:avLst>
              <a:gd name="adj" fmla="val 7059"/>
            </a:avLst>
          </a:prstGeom>
          <a:solidFill>
            <a:srgbClr val="1E293B"/>
          </a:solidFill>
          <a:ln w="12700">
            <a:solidFill>
              <a:srgbClr val="0D9488"/>
            </a:solidFill>
            <a:prstDash val="solid"/>
          </a:ln>
        </p:spPr>
        <p:txBody>
          <a:bodyPr/>
          <a:p/>
        </p:txBody>
      </p:sp>
      <p:sp>
        <p:nvSpPr>
          <p:cNvPr id="17" name="Text 15"/>
          <p:cNvSpPr/>
          <p:nvPr/>
        </p:nvSpPr>
        <p:spPr>
          <a:xfrm>
            <a:off x="9875520" y="2240280"/>
            <a:ext cx="1554480" cy="7772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report</a:t>
            </a:r>
            <a:endParaRPr lang="en-US" sz="1200" dirty="0"/>
          </a:p>
        </p:txBody>
      </p:sp>
      <p:sp>
        <p:nvSpPr>
          <p:cNvPr id="18" name="Text 16"/>
          <p:cNvSpPr/>
          <p:nvPr/>
        </p:nvSpPr>
        <p:spPr>
          <a:xfrm>
            <a:off x="548640" y="3401568"/>
            <a:ext cx="11064240" cy="32004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captures intent now  ·  effect later</a:t>
            </a:r>
            <a:endParaRPr lang="en-US" sz="1200" dirty="0"/>
          </a:p>
        </p:txBody>
      </p:sp>
      <p:sp>
        <p:nvSpPr>
          <p:cNvPr id="19" name="Shape 17"/>
          <p:cNvSpPr/>
          <p:nvPr/>
        </p:nvSpPr>
        <p:spPr>
          <a:xfrm>
            <a:off x="548640" y="3840480"/>
            <a:ext cx="544068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0" name="Text 18"/>
          <p:cNvSpPr/>
          <p:nvPr/>
        </p:nvSpPr>
        <p:spPr>
          <a:xfrm>
            <a:off x="868680" y="4069080"/>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EDGE — INTENT (NOW)</a:t>
            </a:r>
            <a:endParaRPr lang="en-US" sz="1200" dirty="0"/>
          </a:p>
        </p:txBody>
      </p:sp>
      <p:sp>
        <p:nvSpPr>
          <p:cNvPr id="21" name="Text 19"/>
          <p:cNvSpPr/>
          <p:nvPr/>
        </p:nvSpPr>
        <p:spPr>
          <a:xfrm>
            <a:off x="914400" y="4480560"/>
            <a:ext cx="4846320" cy="1463040"/>
          </a:xfrm>
          <a:prstGeom prst="rect">
            <a:avLst/>
          </a:prstGeom>
          <a:noFill/>
          <a:ln/>
        </p:spPr>
        <p:txBody>
          <a:bodyPr wrap="square" lIns="0" tIns="0" rIns="0" bIns="0" rtlCol="0" anchor="ctr"/>
          <a:lstStyle/>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Tool / MCP gateway</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Command broker (run --)</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LLM proxy — the “why” (later)</a:t>
            </a:r>
            <a:endParaRPr lang="en-US" sz="1500" dirty="0"/>
          </a:p>
        </p:txBody>
      </p:sp>
      <p:sp>
        <p:nvSpPr>
          <p:cNvPr id="22" name="Shape 20"/>
          <p:cNvSpPr/>
          <p:nvPr/>
        </p:nvSpPr>
        <p:spPr>
          <a:xfrm>
            <a:off x="6172200" y="3840480"/>
            <a:ext cx="544068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3" name="Text 21"/>
          <p:cNvSpPr/>
          <p:nvPr/>
        </p:nvSpPr>
        <p:spPr>
          <a:xfrm>
            <a:off x="6492240" y="4069080"/>
            <a:ext cx="7315200" cy="274320"/>
          </a:xfrm>
          <a:prstGeom prst="rect">
            <a:avLst/>
          </a:prstGeom>
          <a:noFill/>
          <a:ln/>
        </p:spPr>
        <p:txBody>
          <a:bodyPr wrap="square" lIns="0" tIns="0" rIns="0" bIns="0" rtlCol="0" anchor="ctr"/>
          <a:lstStyle/>
          <a:p>
            <a:pPr indent="0" marL="0">
              <a:buNone/>
            </a:pPr>
            <a:r>
              <a:rPr lang="en-US" sz="1200" b="1" spc="300" kern="0" dirty="0">
                <a:solidFill>
                  <a:srgbClr val="475569"/>
                </a:solidFill>
                <a:latin typeface="Calibri" pitchFamily="34" charset="0"/>
                <a:ea typeface="Calibri" pitchFamily="34" charset="-122"/>
                <a:cs typeface="Calibri" pitchFamily="34" charset="-120"/>
              </a:rPr>
              <a:t>EDGE — EFFECT (LATER)</a:t>
            </a:r>
            <a:endParaRPr lang="en-US" sz="1200" dirty="0"/>
          </a:p>
        </p:txBody>
      </p:sp>
      <p:sp>
        <p:nvSpPr>
          <p:cNvPr id="24" name="Text 22"/>
          <p:cNvSpPr/>
          <p:nvPr/>
        </p:nvSpPr>
        <p:spPr>
          <a:xfrm>
            <a:off x="6537960" y="4480560"/>
            <a:ext cx="4846320" cy="1463040"/>
          </a:xfrm>
          <a:prstGeom prst="rect">
            <a:avLst/>
          </a:prstGeom>
          <a:noFill/>
          <a:ln/>
        </p:spPr>
        <p:txBody>
          <a:bodyPr wrap="square" lIns="0" tIns="0" rIns="0" bIns="0" rtlCol="0" anchor="ctr"/>
          <a:lstStyle/>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OS interception: exec · socket · file</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Binary trust registry</a:t>
            </a:r>
            <a:endParaRPr lang="en-US" sz="1500" dirty="0"/>
          </a:p>
          <a:p>
            <a:pPr marL="342900" indent="-342900">
              <a:lnSpc>
                <a:spcPct val="125000"/>
              </a:lnSpc>
              <a:buSzPct val="100000"/>
              <a:buChar char="•"/>
            </a:pPr>
            <a:r>
              <a:rPr lang="en-US" sz="1500" dirty="0">
                <a:solidFill>
                  <a:srgbClr val="0F172A"/>
                </a:solidFill>
                <a:latin typeface="Calibri" pitchFamily="34" charset="0"/>
                <a:ea typeface="Calibri" pitchFamily="34" charset="-122"/>
                <a:cs typeface="Calibri" pitchFamily="34" charset="-120"/>
              </a:rPr>
              <a:t>eBPF (Linux) / ES (macOS)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wedge — what we build first</a:t>
            </a:r>
            <a:endParaRPr lang="en-US" sz="3000" dirty="0"/>
          </a:p>
        </p:txBody>
      </p:sp>
      <p:sp>
        <p:nvSpPr>
          <p:cNvPr id="4" name="Text 2"/>
          <p:cNvSpPr/>
          <p:nvPr/>
        </p:nvSpPr>
        <p:spPr>
          <a:xfrm>
            <a:off x="548640" y="1207008"/>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POLICY-BY-DEMONSTRATION LOOP · INTENT LAYER · ON MAC</a:t>
            </a:r>
            <a:endParaRPr lang="en-US" sz="1200" dirty="0"/>
          </a:p>
        </p:txBody>
      </p:sp>
      <p:sp>
        <p:nvSpPr>
          <p:cNvPr id="5" name="Shape 3"/>
          <p:cNvSpPr/>
          <p:nvPr/>
        </p:nvSpPr>
        <p:spPr>
          <a:xfrm>
            <a:off x="640080" y="1600200"/>
            <a:ext cx="457200" cy="457200"/>
          </a:xfrm>
          <a:prstGeom prst="ellipse">
            <a:avLst/>
          </a:prstGeom>
          <a:solidFill>
            <a:srgbClr val="0D9488"/>
          </a:solidFill>
          <a:ln/>
        </p:spPr>
        <p:txBody>
          <a:bodyPr/>
          <a:p/>
        </p:txBody>
      </p:sp>
      <p:sp>
        <p:nvSpPr>
          <p:cNvPr id="6" name="Text 4"/>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280160" y="1563624"/>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Unify intent capture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one run = one ordered action flow (reuse command capture; un-archive the MCP proxy)</a:t>
            </a:r>
            <a:endParaRPr lang="en-US" sz="1450" dirty="0"/>
          </a:p>
        </p:txBody>
      </p:sp>
      <p:sp>
        <p:nvSpPr>
          <p:cNvPr id="8" name="Shape 6"/>
          <p:cNvSpPr/>
          <p:nvPr/>
        </p:nvSpPr>
        <p:spPr>
          <a:xfrm>
            <a:off x="640080" y="2441448"/>
            <a:ext cx="457200" cy="457200"/>
          </a:xfrm>
          <a:prstGeom prst="ellipse">
            <a:avLst/>
          </a:prstGeom>
          <a:solidFill>
            <a:srgbClr val="0D9488"/>
          </a:solidFill>
          <a:ln/>
        </p:spPr>
        <p:txBody>
          <a:bodyPr/>
          <a:p/>
        </p:txBody>
      </p:sp>
      <p:sp>
        <p:nvSpPr>
          <p:cNvPr id="9" name="Text 7"/>
          <p:cNvSpPr/>
          <p:nvPr/>
        </p:nvSpPr>
        <p:spPr>
          <a:xfrm>
            <a:off x="640080" y="2441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280160" y="2404872"/>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Review UX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the clickable allow / block timeline</a:t>
            </a:r>
            <a:endParaRPr lang="en-US" sz="1450" dirty="0"/>
          </a:p>
        </p:txBody>
      </p:sp>
      <p:sp>
        <p:nvSpPr>
          <p:cNvPr id="11" name="Shape 9"/>
          <p:cNvSpPr/>
          <p:nvPr/>
        </p:nvSpPr>
        <p:spPr>
          <a:xfrm>
            <a:off x="640080" y="3282696"/>
            <a:ext cx="457200" cy="457200"/>
          </a:xfrm>
          <a:prstGeom prst="ellipse">
            <a:avLst/>
          </a:prstGeom>
          <a:solidFill>
            <a:srgbClr val="0D9488"/>
          </a:solidFill>
          <a:ln/>
        </p:spPr>
        <p:txBody>
          <a:bodyPr/>
          <a:p/>
        </p:txBody>
      </p:sp>
      <p:sp>
        <p:nvSpPr>
          <p:cNvPr id="12" name="Text 10"/>
          <p:cNvSpPr/>
          <p:nvPr/>
        </p:nvSpPr>
        <p:spPr>
          <a:xfrm>
            <a:off x="640080" y="3282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280160" y="3246120"/>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Recommender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AI drafts rules with reasons from the human's choices</a:t>
            </a:r>
            <a:endParaRPr lang="en-US" sz="1450" dirty="0"/>
          </a:p>
        </p:txBody>
      </p:sp>
      <p:sp>
        <p:nvSpPr>
          <p:cNvPr id="14" name="Shape 12"/>
          <p:cNvSpPr/>
          <p:nvPr/>
        </p:nvSpPr>
        <p:spPr>
          <a:xfrm>
            <a:off x="640080" y="4123944"/>
            <a:ext cx="457200" cy="457200"/>
          </a:xfrm>
          <a:prstGeom prst="ellipse">
            <a:avLst/>
          </a:prstGeom>
          <a:solidFill>
            <a:srgbClr val="0D9488"/>
          </a:solidFill>
          <a:ln/>
        </p:spPr>
        <p:txBody>
          <a:bodyPr/>
          <a:p/>
        </p:txBody>
      </p:sp>
      <p:sp>
        <p:nvSpPr>
          <p:cNvPr id="15" name="Text 13"/>
          <p:cNvSpPr/>
          <p:nvPr/>
        </p:nvSpPr>
        <p:spPr>
          <a:xfrm>
            <a:off x="640080" y="4123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280160" y="4087368"/>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Enforcement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observe → alert → block on the next run; close the loop</a:t>
            </a:r>
            <a:endParaRPr lang="en-US" sz="1450" dirty="0"/>
          </a:p>
        </p:txBody>
      </p:sp>
      <p:sp>
        <p:nvSpPr>
          <p:cNvPr id="17" name="Shape 15"/>
          <p:cNvSpPr/>
          <p:nvPr/>
        </p:nvSpPr>
        <p:spPr>
          <a:xfrm>
            <a:off x="640080" y="4965192"/>
            <a:ext cx="457200" cy="457200"/>
          </a:xfrm>
          <a:prstGeom prst="ellipse">
            <a:avLst/>
          </a:prstGeom>
          <a:solidFill>
            <a:srgbClr val="0D9488"/>
          </a:solidFill>
          <a:ln/>
        </p:spPr>
        <p:txBody>
          <a:bodyPr/>
          <a:p/>
        </p:txBody>
      </p:sp>
      <p:sp>
        <p:nvSpPr>
          <p:cNvPr id="18" name="Text 16"/>
          <p:cNvSpPr/>
          <p:nvPr/>
        </p:nvSpPr>
        <p:spPr>
          <a:xfrm>
            <a:off x="640080" y="4965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280160" y="4928616"/>
            <a:ext cx="6858000" cy="566928"/>
          </a:xfrm>
          <a:prstGeom prst="rect">
            <a:avLst/>
          </a:prstGeom>
          <a:noFill/>
          <a:ln/>
        </p:spPr>
        <p:txBody>
          <a:bodyPr wrap="square" lIns="0" tIns="0" rIns="0" bIns="0" rtlCol="0" anchor="ctr"/>
          <a:lstStyle/>
          <a:p>
            <a:pPr indent="0" marL="0">
              <a:lnSpc>
                <a:spcPct val="100000"/>
              </a:lnSpc>
              <a:buNone/>
            </a:pPr>
            <a:r>
              <a:rPr lang="en-US" sz="1450" b="1" dirty="0">
                <a:solidFill>
                  <a:srgbClr val="0F172A"/>
                </a:solidFill>
                <a:latin typeface="Calibri" pitchFamily="34" charset="0"/>
                <a:ea typeface="Calibri" pitchFamily="34" charset="-122"/>
                <a:cs typeface="Calibri" pitchFamily="34" charset="-120"/>
              </a:rPr>
              <a:t>Design partners  </a:t>
            </a:r>
            <a:pPr indent="0" marL="0">
              <a:lnSpc>
                <a:spcPct val="100000"/>
              </a:lnSpc>
              <a:buNone/>
            </a:pPr>
            <a:r>
              <a:rPr lang="en-US" sz="1450" dirty="0">
                <a:solidFill>
                  <a:srgbClr val="64748B"/>
                </a:solidFill>
                <a:latin typeface="Calibri" pitchFamily="34" charset="0"/>
                <a:ea typeface="Calibri" pitchFamily="34" charset="-122"/>
                <a:cs typeface="Calibri" pitchFamily="34" charset="-120"/>
              </a:rPr>
              <a:t>— real agents, real feedback, harden the loop</a:t>
            </a:r>
            <a:endParaRPr lang="en-US" sz="1450" dirty="0"/>
          </a:p>
        </p:txBody>
      </p:sp>
      <p:sp>
        <p:nvSpPr>
          <p:cNvPr id="20" name="Shape 18"/>
          <p:cNvSpPr/>
          <p:nvPr/>
        </p:nvSpPr>
        <p:spPr>
          <a:xfrm>
            <a:off x="8458200" y="1554480"/>
            <a:ext cx="3154680" cy="4160520"/>
          </a:xfrm>
          <a:prstGeom prst="roundRect">
            <a:avLst>
              <a:gd name="adj" fmla="val 2319"/>
            </a:avLst>
          </a:prstGeom>
          <a:solidFill>
            <a:srgbClr val="0B1437"/>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1" name="Text 19"/>
          <p:cNvSpPr/>
          <p:nvPr/>
        </p:nvSpPr>
        <p:spPr>
          <a:xfrm>
            <a:off x="8732520" y="1783080"/>
            <a:ext cx="2651760" cy="32004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DELIBERATELY NOT YET</a:t>
            </a:r>
            <a:endParaRPr lang="en-US" sz="1200" dirty="0"/>
          </a:p>
        </p:txBody>
      </p:sp>
      <p:sp>
        <p:nvSpPr>
          <p:cNvPr id="22" name="Text 20"/>
          <p:cNvSpPr/>
          <p:nvPr/>
        </p:nvSpPr>
        <p:spPr>
          <a:xfrm>
            <a:off x="8778240" y="2240280"/>
            <a:ext cx="2606040" cy="3291840"/>
          </a:xfrm>
          <a:prstGeom prst="rect">
            <a:avLst/>
          </a:prstGeom>
          <a:noFill/>
          <a:ln/>
        </p:spPr>
        <p:txBody>
          <a:bodyPr wrap="square" lIns="0" tIns="0" rIns="0" bIns="0" rtlCol="0" anchor="ctr"/>
          <a:lstStyle/>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OS / eBPF interception</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Binary trust registry</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LLM proxy</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Reconciliation engine</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SSO / SOC2 / multi-tenant</a:t>
            </a:r>
            <a:endParaRPr lang="en-US" sz="1400" dirty="0"/>
          </a:p>
          <a:p>
            <a:pPr marL="342900" indent="-342900">
              <a:lnSpc>
                <a:spcPct val="130000"/>
              </a:lnSpc>
              <a:buSzPct val="100000"/>
              <a:buChar char="•"/>
            </a:pPr>
            <a:r>
              <a:rPr lang="en-US" sz="1400" dirty="0">
                <a:solidFill>
                  <a:srgbClr val="CBD5E1"/>
                </a:solidFill>
                <a:latin typeface="Calibri" pitchFamily="34" charset="0"/>
                <a:ea typeface="Calibri" pitchFamily="34" charset="-122"/>
                <a:cs typeface="Calibri" pitchFamily="34" charset="-120"/>
              </a:rPr>
              <a:t>Signed attestations · SIEM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This year's destination</a:t>
            </a:r>
            <a:endParaRPr lang="en-US" sz="3000" dirty="0"/>
          </a:p>
        </p:txBody>
      </p:sp>
      <p:sp>
        <p:nvSpPr>
          <p:cNvPr id="4" name="Text 2"/>
          <p:cNvSpPr/>
          <p:nvPr/>
        </p:nvSpPr>
        <p:spPr>
          <a:xfrm>
            <a:off x="548640" y="1207008"/>
            <a:ext cx="73152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12 MONTHS OUT · WINNING LOOKS LIKE</a:t>
            </a:r>
            <a:endParaRPr lang="en-US" sz="1200" dirty="0"/>
          </a:p>
        </p:txBody>
      </p:sp>
      <p:sp>
        <p:nvSpPr>
          <p:cNvPr id="5" name="Shape 3"/>
          <p:cNvSpPr/>
          <p:nvPr/>
        </p:nvSpPr>
        <p:spPr>
          <a:xfrm>
            <a:off x="640080" y="1709928"/>
            <a:ext cx="384048" cy="384048"/>
          </a:xfrm>
          <a:prstGeom prst="ellipse">
            <a:avLst/>
          </a:prstGeom>
          <a:solidFill>
            <a:srgbClr val="0D9488"/>
          </a:solidFill>
          <a:ln/>
        </p:spPr>
        <p:txBody>
          <a:bodyPr/>
          <a:p/>
        </p:txBody>
      </p:sp>
      <p:sp>
        <p:nvSpPr>
          <p:cNvPr id="6" name="Text 4"/>
          <p:cNvSpPr/>
          <p:nvPr/>
        </p:nvSpPr>
        <p:spPr>
          <a:xfrm>
            <a:off x="640080" y="17099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34440" y="169164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hero loop works end-to-end on Mac — demoable in one sitting.</a:t>
            </a:r>
            <a:endParaRPr lang="en-US" sz="1550" dirty="0"/>
          </a:p>
        </p:txBody>
      </p:sp>
      <p:sp>
        <p:nvSpPr>
          <p:cNvPr id="8" name="Shape 6"/>
          <p:cNvSpPr/>
          <p:nvPr/>
        </p:nvSpPr>
        <p:spPr>
          <a:xfrm>
            <a:off x="640080" y="2551176"/>
            <a:ext cx="384048" cy="384048"/>
          </a:xfrm>
          <a:prstGeom prst="ellipse">
            <a:avLst/>
          </a:prstGeom>
          <a:solidFill>
            <a:srgbClr val="0D9488"/>
          </a:solidFill>
          <a:ln/>
        </p:spPr>
        <p:txBody>
          <a:bodyPr/>
          <a:p/>
        </p:txBody>
      </p:sp>
      <p:sp>
        <p:nvSpPr>
          <p:cNvPr id="9" name="Text 7"/>
          <p:cNvSpPr/>
          <p:nvPr/>
        </p:nvSpPr>
        <p:spPr>
          <a:xfrm>
            <a:off x="640080" y="25511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234440" y="2532888"/>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A handful of design partners run real agents through it — and have let us block a real risky action.</a:t>
            </a:r>
            <a:endParaRPr lang="en-US" sz="1550" dirty="0"/>
          </a:p>
        </p:txBody>
      </p:sp>
      <p:sp>
        <p:nvSpPr>
          <p:cNvPr id="11" name="Shape 9"/>
          <p:cNvSpPr/>
          <p:nvPr/>
        </p:nvSpPr>
        <p:spPr>
          <a:xfrm>
            <a:off x="640080" y="3392424"/>
            <a:ext cx="384048" cy="384048"/>
          </a:xfrm>
          <a:prstGeom prst="ellipse">
            <a:avLst/>
          </a:prstGeom>
          <a:solidFill>
            <a:srgbClr val="0D9488"/>
          </a:solidFill>
          <a:ln/>
        </p:spPr>
        <p:txBody>
          <a:bodyPr/>
          <a:p/>
        </p:txBody>
      </p:sp>
      <p:sp>
        <p:nvSpPr>
          <p:cNvPr id="12" name="Text 10"/>
          <p:cNvSpPr/>
          <p:nvPr/>
        </p:nvSpPr>
        <p:spPr>
          <a:xfrm>
            <a:off x="640080" y="33924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234440" y="3374136"/>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ground-truth layer has begun: “untrusted binary” is real, not aspirational.</a:t>
            </a:r>
            <a:endParaRPr lang="en-US" sz="1550" dirty="0"/>
          </a:p>
        </p:txBody>
      </p:sp>
      <p:sp>
        <p:nvSpPr>
          <p:cNvPr id="14" name="Shape 12"/>
          <p:cNvSpPr/>
          <p:nvPr/>
        </p:nvSpPr>
        <p:spPr>
          <a:xfrm>
            <a:off x="640080" y="4233672"/>
            <a:ext cx="384048" cy="384048"/>
          </a:xfrm>
          <a:prstGeom prst="ellipse">
            <a:avLst/>
          </a:prstGeom>
          <a:solidFill>
            <a:srgbClr val="0D9488"/>
          </a:solidFill>
          <a:ln/>
        </p:spPr>
        <p:txBody>
          <a:bodyPr/>
          <a:p/>
        </p:txBody>
      </p:sp>
      <p:sp>
        <p:nvSpPr>
          <p:cNvPr id="15" name="Text 13"/>
          <p:cNvSpPr/>
          <p:nvPr/>
        </p:nvSpPr>
        <p:spPr>
          <a:xfrm>
            <a:off x="640080" y="42336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234440" y="4215384"/>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Recommendation quality is good enough that partners trust suggestions more than they rewrite them.</a:t>
            </a:r>
            <a:endParaRPr lang="en-US" sz="1550" dirty="0"/>
          </a:p>
        </p:txBody>
      </p:sp>
      <p:sp>
        <p:nvSpPr>
          <p:cNvPr id="17" name="Shape 15"/>
          <p:cNvSpPr/>
          <p:nvPr/>
        </p:nvSpPr>
        <p:spPr>
          <a:xfrm>
            <a:off x="640080" y="5074920"/>
            <a:ext cx="384048" cy="384048"/>
          </a:xfrm>
          <a:prstGeom prst="ellipse">
            <a:avLst/>
          </a:prstGeom>
          <a:solidFill>
            <a:srgbClr val="0D9488"/>
          </a:solidFill>
          <a:ln/>
        </p:spPr>
        <p:txBody>
          <a:bodyPr/>
          <a:p/>
        </p:txBody>
      </p:sp>
      <p:sp>
        <p:nvSpPr>
          <p:cNvPr id="18" name="Text 16"/>
          <p:cNvSpPr/>
          <p:nvPr/>
        </p:nvSpPr>
        <p:spPr>
          <a:xfrm>
            <a:off x="640080" y="50749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234440" y="5056632"/>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The narrative is sharp: “agent control plane / policy by demonstration” gets repeated back to us.</a:t>
            </a:r>
            <a:endParaRPr lang="en-US" sz="1550" dirty="0"/>
          </a:p>
        </p:txBody>
      </p:sp>
      <p:sp>
        <p:nvSpPr>
          <p:cNvPr id="20" name="Text 18"/>
          <p:cNvSpPr/>
          <p:nvPr/>
        </p:nvSpPr>
        <p:spPr>
          <a:xfrm>
            <a:off x="640080" y="5989320"/>
            <a:ext cx="10972800" cy="45720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Not this year: full enterprise hardening, multi-cloud, SSO/SOC2 at scale, the reconciliation engine finished, or adversarial-agent containment.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640080" y="77724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OUR NORTH STAR METRIC</a:t>
            </a:r>
            <a:endParaRPr lang="en-US" sz="1200" dirty="0"/>
          </a:p>
        </p:txBody>
      </p:sp>
      <p:sp>
        <p:nvSpPr>
          <p:cNvPr id="3" name="Text 1"/>
          <p:cNvSpPr/>
          <p:nvPr/>
        </p:nvSpPr>
        <p:spPr>
          <a:xfrm>
            <a:off x="640080" y="128016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Trusted Autonomy Rate</a:t>
            </a:r>
            <a:endParaRPr lang="en-US" sz="4400" dirty="0"/>
          </a:p>
        </p:txBody>
      </p:sp>
      <p:sp>
        <p:nvSpPr>
          <p:cNvPr id="4" name="Text 2"/>
          <p:cNvSpPr/>
          <p:nvPr/>
        </p:nvSpPr>
        <p:spPr>
          <a:xfrm>
            <a:off x="640080" y="2240280"/>
            <a:ext cx="10789920" cy="1188720"/>
          </a:xfrm>
          <a:prstGeom prst="rect">
            <a:avLst/>
          </a:prstGeom>
          <a:noFill/>
          <a:ln/>
        </p:spPr>
        <p:txBody>
          <a:bodyPr wrap="square" lIns="0" tIns="0" rIns="0" bIns="0" rtlCol="0" anchor="ctr"/>
          <a:lstStyle/>
          <a:p>
            <a:pPr indent="0" marL="0">
              <a:lnSpc>
                <a:spcPct val="110000"/>
              </a:lnSpc>
              <a:buNone/>
            </a:pPr>
            <a:r>
              <a:rPr lang="en-US" sz="2200" i="1" dirty="0">
                <a:solidFill>
                  <a:srgbClr val="CBD5E1"/>
                </a:solidFill>
                <a:latin typeface="Georgia" pitchFamily="34" charset="0"/>
                <a:ea typeface="Georgia" pitchFamily="34" charset="-122"/>
                <a:cs typeface="Georgia" pitchFamily="34" charset="-120"/>
              </a:rPr>
              <a:t>The share of an agent's actions that execute </a:t>
            </a:r>
            <a:pPr indent="0" marL="0">
              <a:lnSpc>
                <a:spcPct val="110000"/>
              </a:lnSpc>
              <a:buNone/>
            </a:pPr>
            <a:r>
              <a:rPr lang="en-US" sz="2200" b="1" i="1" dirty="0">
                <a:solidFill>
                  <a:srgbClr val="5EEAD4"/>
                </a:solidFill>
                <a:latin typeface="Georgia" pitchFamily="34" charset="0"/>
                <a:ea typeface="Georgia" pitchFamily="34" charset="-122"/>
                <a:cs typeface="Georgia" pitchFamily="34" charset="-120"/>
              </a:rPr>
              <a:t>without human pre-approval because policy already covers them</a:t>
            </a:r>
            <a:pPr indent="0" marL="0">
              <a:lnSpc>
                <a:spcPct val="110000"/>
              </a:lnSpc>
              <a:buNone/>
            </a:pPr>
            <a:r>
              <a:rPr lang="en-US" sz="2200" i="1" dirty="0">
                <a:solidFill>
                  <a:srgbClr val="CBD5E1"/>
                </a:solidFill>
                <a:latin typeface="Georgia" pitchFamily="34" charset="0"/>
                <a:ea typeface="Georgia" pitchFamily="34" charset="-122"/>
                <a:cs typeface="Georgia" pitchFamily="34" charset="-120"/>
              </a:rPr>
              <a:t> — while remaining fully recorded and reversible.</a:t>
            </a:r>
            <a:endParaRPr lang="en-US" sz="2200" dirty="0"/>
          </a:p>
        </p:txBody>
      </p:sp>
      <p:sp>
        <p:nvSpPr>
          <p:cNvPr id="5" name="Text 3"/>
          <p:cNvSpPr/>
          <p:nvPr/>
        </p:nvSpPr>
        <p:spPr>
          <a:xfrm>
            <a:off x="640080" y="3611880"/>
            <a:ext cx="10789920" cy="1097280"/>
          </a:xfrm>
          <a:prstGeom prst="rect">
            <a:avLst/>
          </a:prstGeom>
          <a:noFill/>
          <a:ln/>
        </p:spPr>
        <p:txBody>
          <a:bodyPr wrap="square" lIns="0" tIns="0" rIns="0" bIns="0" rtlCol="0" anchor="ctr"/>
          <a:lstStyle/>
          <a:p>
            <a:pPr indent="0" marL="0">
              <a:lnSpc>
                <a:spcPct val="112000"/>
              </a:lnSpc>
              <a:buNone/>
            </a:pPr>
            <a:r>
              <a:rPr lang="en-US" sz="1550" dirty="0">
                <a:solidFill>
                  <a:srgbClr val="94A3B8"/>
                </a:solidFill>
                <a:latin typeface="Calibri" pitchFamily="34" charset="0"/>
                <a:ea typeface="Calibri" pitchFamily="34" charset="-122"/>
                <a:cs typeface="Calibri" pitchFamily="34" charset="-120"/>
              </a:rPr>
              <a:t>It rises only when both halves work: the agent is doing useful work, AND the demonstration loop has taught enough policy to safely get out of the way. Pure logging can't move it (no autonomy). Pure automation can't move it safely (no trust).</a:t>
            </a:r>
            <a:endParaRPr lang="en-US" sz="1550" dirty="0"/>
          </a:p>
        </p:txBody>
      </p:sp>
      <p:sp>
        <p:nvSpPr>
          <p:cNvPr id="6" name="Shape 4"/>
          <p:cNvSpPr/>
          <p:nvPr/>
        </p:nvSpPr>
        <p:spPr>
          <a:xfrm>
            <a:off x="640080" y="5074920"/>
            <a:ext cx="2606040" cy="868680"/>
          </a:xfrm>
          <a:prstGeom prst="roundRect">
            <a:avLst>
              <a:gd name="adj" fmla="val 8421"/>
            </a:avLst>
          </a:prstGeom>
          <a:solidFill>
            <a:srgbClr val="1E293B"/>
          </a:solidFill>
          <a:ln w="12700">
            <a:solidFill>
              <a:srgbClr val="0D9488"/>
            </a:solidFill>
            <a:prstDash val="solid"/>
          </a:ln>
        </p:spPr>
        <p:txBody>
          <a:bodyPr/>
          <a:p/>
        </p:txBody>
      </p:sp>
      <p:sp>
        <p:nvSpPr>
          <p:cNvPr id="7" name="Text 5"/>
          <p:cNvSpPr/>
          <p:nvPr/>
        </p:nvSpPr>
        <p:spPr>
          <a:xfrm>
            <a:off x="777240"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time-to-first-blocked-action</a:t>
            </a:r>
            <a:endParaRPr lang="en-US" sz="1300" dirty="0"/>
          </a:p>
        </p:txBody>
      </p:sp>
      <p:sp>
        <p:nvSpPr>
          <p:cNvPr id="8" name="Shape 6"/>
          <p:cNvSpPr/>
          <p:nvPr/>
        </p:nvSpPr>
        <p:spPr>
          <a:xfrm>
            <a:off x="3419856" y="5074920"/>
            <a:ext cx="2606040" cy="868680"/>
          </a:xfrm>
          <a:prstGeom prst="roundRect">
            <a:avLst>
              <a:gd name="adj" fmla="val 8421"/>
            </a:avLst>
          </a:prstGeom>
          <a:solidFill>
            <a:srgbClr val="1E293B"/>
          </a:solidFill>
          <a:ln w="12700">
            <a:solidFill>
              <a:srgbClr val="0D9488"/>
            </a:solidFill>
            <a:prstDash val="solid"/>
          </a:ln>
        </p:spPr>
        <p:txBody>
          <a:bodyPr/>
          <a:p/>
        </p:txBody>
      </p:sp>
      <p:sp>
        <p:nvSpPr>
          <p:cNvPr id="9" name="Text 7"/>
          <p:cNvSpPr/>
          <p:nvPr/>
        </p:nvSpPr>
        <p:spPr>
          <a:xfrm>
            <a:off x="3557016"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recommendation acceptance rate</a:t>
            </a:r>
            <a:endParaRPr lang="en-US" sz="1300" dirty="0"/>
          </a:p>
        </p:txBody>
      </p:sp>
      <p:sp>
        <p:nvSpPr>
          <p:cNvPr id="10" name="Shape 8"/>
          <p:cNvSpPr/>
          <p:nvPr/>
        </p:nvSpPr>
        <p:spPr>
          <a:xfrm>
            <a:off x="6199632" y="5074920"/>
            <a:ext cx="2606040" cy="868680"/>
          </a:xfrm>
          <a:prstGeom prst="roundRect">
            <a:avLst>
              <a:gd name="adj" fmla="val 8421"/>
            </a:avLst>
          </a:prstGeom>
          <a:solidFill>
            <a:srgbClr val="1E293B"/>
          </a:solidFill>
          <a:ln w="12700">
            <a:solidFill>
              <a:srgbClr val="0D9488"/>
            </a:solidFill>
            <a:prstDash val="solid"/>
          </a:ln>
        </p:spPr>
        <p:txBody>
          <a:bodyPr/>
          <a:p/>
        </p:txBody>
      </p:sp>
      <p:sp>
        <p:nvSpPr>
          <p:cNvPr id="11" name="Text 9"/>
          <p:cNvSpPr/>
          <p:nvPr/>
        </p:nvSpPr>
        <p:spPr>
          <a:xfrm>
            <a:off x="6336792"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 actions captured (coverage)</a:t>
            </a:r>
            <a:endParaRPr lang="en-US" sz="1300" dirty="0"/>
          </a:p>
        </p:txBody>
      </p:sp>
      <p:sp>
        <p:nvSpPr>
          <p:cNvPr id="12" name="Shape 10"/>
          <p:cNvSpPr/>
          <p:nvPr/>
        </p:nvSpPr>
        <p:spPr>
          <a:xfrm>
            <a:off x="8979408" y="5074920"/>
            <a:ext cx="2606040" cy="868680"/>
          </a:xfrm>
          <a:prstGeom prst="roundRect">
            <a:avLst>
              <a:gd name="adj" fmla="val 8421"/>
            </a:avLst>
          </a:prstGeom>
          <a:solidFill>
            <a:srgbClr val="1E293B"/>
          </a:solidFill>
          <a:ln w="12700">
            <a:solidFill>
              <a:srgbClr val="0D9488"/>
            </a:solidFill>
            <a:prstDash val="solid"/>
          </a:ln>
        </p:spPr>
        <p:txBody>
          <a:bodyPr/>
          <a:p/>
        </p:txBody>
      </p:sp>
      <p:sp>
        <p:nvSpPr>
          <p:cNvPr id="13" name="Text 11"/>
          <p:cNvSpPr/>
          <p:nvPr/>
        </p:nvSpPr>
        <p:spPr>
          <a:xfrm>
            <a:off x="9116568" y="5074920"/>
            <a:ext cx="2331720" cy="868680"/>
          </a:xfrm>
          <a:prstGeom prst="rect">
            <a:avLst/>
          </a:prstGeom>
          <a:noFill/>
          <a:ln/>
        </p:spPr>
        <p:txBody>
          <a:bodyPr wrap="square" lIns="0" tIns="0" rIns="0" bIns="0" rtlCol="0" anchor="ctr"/>
          <a:lstStyle/>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design-partner retention</a:t>
            </a:r>
            <a:endParaRPr lang="en-US" sz="1300" dirty="0"/>
          </a:p>
        </p:txBody>
      </p:sp>
      <p:sp>
        <p:nvSpPr>
          <p:cNvPr id="14" name="Text 12"/>
          <p:cNvSpPr/>
          <p:nvPr/>
        </p:nvSpPr>
        <p:spPr>
          <a:xfrm>
            <a:off x="640080" y="6126480"/>
            <a:ext cx="54864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supporting signals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Principles — non-negotiables</a:t>
            </a:r>
            <a:endParaRPr lang="en-US" sz="3000" dirty="0"/>
          </a:p>
        </p:txBody>
      </p:sp>
      <p:sp>
        <p:nvSpPr>
          <p:cNvPr id="4" name="Shape 2"/>
          <p:cNvSpPr/>
          <p:nvPr/>
        </p:nvSpPr>
        <p:spPr>
          <a:xfrm>
            <a:off x="548640" y="146304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Shape 3"/>
          <p:cNvSpPr/>
          <p:nvPr/>
        </p:nvSpPr>
        <p:spPr>
          <a:xfrm>
            <a:off x="548640" y="1463040"/>
            <a:ext cx="128016" cy="1371600"/>
          </a:xfrm>
          <a:prstGeom prst="rect">
            <a:avLst/>
          </a:prstGeom>
          <a:solidFill>
            <a:srgbClr val="0D9488"/>
          </a:solidFill>
          <a:ln/>
        </p:spPr>
        <p:txBody>
          <a:bodyPr/>
          <a:p/>
        </p:txBody>
      </p:sp>
      <p:sp>
        <p:nvSpPr>
          <p:cNvPr id="6" name="Text 4"/>
          <p:cNvSpPr/>
          <p:nvPr/>
        </p:nvSpPr>
        <p:spPr>
          <a:xfrm>
            <a:off x="914400" y="164592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Sell the experience, not the engine</a:t>
            </a:r>
            <a:endParaRPr lang="en-US" sz="1700" dirty="0"/>
          </a:p>
        </p:txBody>
      </p:sp>
      <p:sp>
        <p:nvSpPr>
          <p:cNvPr id="7" name="Text 5"/>
          <p:cNvSpPr/>
          <p:nvPr/>
        </p:nvSpPr>
        <p:spPr>
          <a:xfrm>
            <a:off x="914400" y="208483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The policy engine is a hidden commodity. Users never write Rego.</a:t>
            </a:r>
            <a:endParaRPr lang="en-US" sz="1350" dirty="0"/>
          </a:p>
        </p:txBody>
      </p:sp>
      <p:sp>
        <p:nvSpPr>
          <p:cNvPr id="8" name="Shape 6"/>
          <p:cNvSpPr/>
          <p:nvPr/>
        </p:nvSpPr>
        <p:spPr>
          <a:xfrm>
            <a:off x="6172200" y="146304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9" name="Shape 7"/>
          <p:cNvSpPr/>
          <p:nvPr/>
        </p:nvSpPr>
        <p:spPr>
          <a:xfrm>
            <a:off x="6172200" y="1463040"/>
            <a:ext cx="128016" cy="1371600"/>
          </a:xfrm>
          <a:prstGeom prst="rect">
            <a:avLst/>
          </a:prstGeom>
          <a:solidFill>
            <a:srgbClr val="0D9488"/>
          </a:solidFill>
          <a:ln/>
        </p:spPr>
        <p:txBody>
          <a:bodyPr/>
          <a:p/>
        </p:txBody>
      </p:sp>
      <p:sp>
        <p:nvSpPr>
          <p:cNvPr id="10" name="Text 8"/>
          <p:cNvSpPr/>
          <p:nvPr/>
        </p:nvSpPr>
        <p:spPr>
          <a:xfrm>
            <a:off x="6537960" y="164592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Keep the spine small</a:t>
            </a:r>
            <a:endParaRPr lang="en-US" sz="1700" dirty="0"/>
          </a:p>
        </p:txBody>
      </p:sp>
      <p:sp>
        <p:nvSpPr>
          <p:cNvPr id="11" name="Text 9"/>
          <p:cNvSpPr/>
          <p:nvPr/>
        </p:nvSpPr>
        <p:spPr>
          <a:xfrm>
            <a:off x="6537960" y="208483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Everything new is a pluggable, trust-tagged collector. Resist the bloat.</a:t>
            </a:r>
            <a:endParaRPr lang="en-US" sz="1350" dirty="0"/>
          </a:p>
        </p:txBody>
      </p:sp>
      <p:sp>
        <p:nvSpPr>
          <p:cNvPr id="12" name="Shape 10"/>
          <p:cNvSpPr/>
          <p:nvPr/>
        </p:nvSpPr>
        <p:spPr>
          <a:xfrm>
            <a:off x="548640" y="301752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3" name="Shape 11"/>
          <p:cNvSpPr/>
          <p:nvPr/>
        </p:nvSpPr>
        <p:spPr>
          <a:xfrm>
            <a:off x="548640" y="3017520"/>
            <a:ext cx="128016" cy="1371600"/>
          </a:xfrm>
          <a:prstGeom prst="rect">
            <a:avLst/>
          </a:prstGeom>
          <a:solidFill>
            <a:srgbClr val="0D9488"/>
          </a:solidFill>
          <a:ln/>
        </p:spPr>
        <p:txBody>
          <a:bodyPr/>
          <a:p/>
        </p:txBody>
      </p:sp>
      <p:sp>
        <p:nvSpPr>
          <p:cNvPr id="14" name="Text 12"/>
          <p:cNvSpPr/>
          <p:nvPr/>
        </p:nvSpPr>
        <p:spPr>
          <a:xfrm>
            <a:off x="914400" y="320040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Honest, bounded claims</a:t>
            </a:r>
            <a:endParaRPr lang="en-US" sz="1700" dirty="0"/>
          </a:p>
        </p:txBody>
      </p:sp>
      <p:sp>
        <p:nvSpPr>
          <p:cNvPr id="15" name="Text 13"/>
          <p:cNvSpPr/>
          <p:nvPr/>
        </p:nvSpPr>
        <p:spPr>
          <a:xfrm>
            <a:off x="914400" y="363931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“Brokered actions gated; un-brokered detected.” Never “tamper-proof.”</a:t>
            </a:r>
            <a:endParaRPr lang="en-US" sz="1350" dirty="0"/>
          </a:p>
        </p:txBody>
      </p:sp>
      <p:sp>
        <p:nvSpPr>
          <p:cNvPr id="16" name="Shape 14"/>
          <p:cNvSpPr/>
          <p:nvPr/>
        </p:nvSpPr>
        <p:spPr>
          <a:xfrm>
            <a:off x="6172200" y="301752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7" name="Shape 15"/>
          <p:cNvSpPr/>
          <p:nvPr/>
        </p:nvSpPr>
        <p:spPr>
          <a:xfrm>
            <a:off x="6172200" y="3017520"/>
            <a:ext cx="128016" cy="1371600"/>
          </a:xfrm>
          <a:prstGeom prst="rect">
            <a:avLst/>
          </a:prstGeom>
          <a:solidFill>
            <a:srgbClr val="0D9488"/>
          </a:solidFill>
          <a:ln/>
        </p:spPr>
        <p:txBody>
          <a:bodyPr/>
          <a:p/>
        </p:txBody>
      </p:sp>
      <p:sp>
        <p:nvSpPr>
          <p:cNvPr id="18" name="Text 16"/>
          <p:cNvSpPr/>
          <p:nvPr/>
        </p:nvSpPr>
        <p:spPr>
          <a:xfrm>
            <a:off x="6537960" y="320040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Observe → alert → block</a:t>
            </a:r>
            <a:endParaRPr lang="en-US" sz="1700" dirty="0"/>
          </a:p>
        </p:txBody>
      </p:sp>
      <p:sp>
        <p:nvSpPr>
          <p:cNvPr id="19" name="Text 17"/>
          <p:cNvSpPr/>
          <p:nvPr/>
        </p:nvSpPr>
        <p:spPr>
          <a:xfrm>
            <a:off x="6537960" y="363931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Earn the right to block. Breaking real work on day one gets us ripped out.</a:t>
            </a:r>
            <a:endParaRPr lang="en-US" sz="1350" dirty="0"/>
          </a:p>
        </p:txBody>
      </p:sp>
      <p:sp>
        <p:nvSpPr>
          <p:cNvPr id="20" name="Shape 18"/>
          <p:cNvSpPr/>
          <p:nvPr/>
        </p:nvSpPr>
        <p:spPr>
          <a:xfrm>
            <a:off x="548640" y="457200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1" name="Shape 19"/>
          <p:cNvSpPr/>
          <p:nvPr/>
        </p:nvSpPr>
        <p:spPr>
          <a:xfrm>
            <a:off x="548640" y="4572000"/>
            <a:ext cx="128016" cy="1371600"/>
          </a:xfrm>
          <a:prstGeom prst="rect">
            <a:avLst/>
          </a:prstGeom>
          <a:solidFill>
            <a:srgbClr val="0D9488"/>
          </a:solidFill>
          <a:ln/>
        </p:spPr>
        <p:txBody>
          <a:bodyPr/>
          <a:p/>
        </p:txBody>
      </p:sp>
      <p:sp>
        <p:nvSpPr>
          <p:cNvPr id="22" name="Text 20"/>
          <p:cNvSpPr/>
          <p:nvPr/>
        </p:nvSpPr>
        <p:spPr>
          <a:xfrm>
            <a:off x="914400" y="475488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Leverage, don't rebuild</a:t>
            </a:r>
            <a:endParaRPr lang="en-US" sz="1700" dirty="0"/>
          </a:p>
        </p:txBody>
      </p:sp>
      <p:sp>
        <p:nvSpPr>
          <p:cNvPr id="23" name="Text 21"/>
          <p:cNvSpPr/>
          <p:nvPr/>
        </p:nvSpPr>
        <p:spPr>
          <a:xfrm>
            <a:off x="914400" y="519379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No reimplementing eBPF or a policy engine. The moat is elsewhere.</a:t>
            </a:r>
            <a:endParaRPr lang="en-US" sz="1350" dirty="0"/>
          </a:p>
        </p:txBody>
      </p:sp>
      <p:sp>
        <p:nvSpPr>
          <p:cNvPr id="24" name="Shape 22"/>
          <p:cNvSpPr/>
          <p:nvPr/>
        </p:nvSpPr>
        <p:spPr>
          <a:xfrm>
            <a:off x="6172200" y="4572000"/>
            <a:ext cx="544068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25" name="Shape 23"/>
          <p:cNvSpPr/>
          <p:nvPr/>
        </p:nvSpPr>
        <p:spPr>
          <a:xfrm>
            <a:off x="6172200" y="4572000"/>
            <a:ext cx="128016" cy="1371600"/>
          </a:xfrm>
          <a:prstGeom prst="rect">
            <a:avLst/>
          </a:prstGeom>
          <a:solidFill>
            <a:srgbClr val="0D9488"/>
          </a:solidFill>
          <a:ln/>
        </p:spPr>
        <p:txBody>
          <a:bodyPr/>
          <a:p/>
        </p:txBody>
      </p:sp>
      <p:sp>
        <p:nvSpPr>
          <p:cNvPr id="26" name="Text 24"/>
          <p:cNvSpPr/>
          <p:nvPr/>
        </p:nvSpPr>
        <p:spPr>
          <a:xfrm>
            <a:off x="6537960" y="4754880"/>
            <a:ext cx="489204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The boundary, not the brain</a:t>
            </a:r>
            <a:endParaRPr lang="en-US" sz="1700" dirty="0"/>
          </a:p>
        </p:txBody>
      </p:sp>
      <p:sp>
        <p:nvSpPr>
          <p:cNvPr id="27" name="Text 25"/>
          <p:cNvSpPr/>
          <p:nvPr/>
        </p:nvSpPr>
        <p:spPr>
          <a:xfrm>
            <a:off x="6537960" y="5193792"/>
            <a:ext cx="4892040" cy="658368"/>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Govern actions that touch real systems, not the model's every thought.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moat</a:t>
            </a:r>
            <a:endParaRPr lang="en-US" sz="3000" dirty="0"/>
          </a:p>
        </p:txBody>
      </p:sp>
      <p:sp>
        <p:nvSpPr>
          <p:cNvPr id="4" name="Text 2"/>
          <p:cNvSpPr/>
          <p:nvPr/>
        </p:nvSpPr>
        <p:spPr>
          <a:xfrm>
            <a:off x="548640" y="1234440"/>
            <a:ext cx="11064240" cy="54864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Not any single proxy or syscall hook — those are commodities. Our defensibility is what compounds with usage.</a:t>
            </a:r>
            <a:endParaRPr lang="en-US" sz="1600" dirty="0"/>
          </a:p>
        </p:txBody>
      </p:sp>
      <p:sp>
        <p:nvSpPr>
          <p:cNvPr id="5" name="Shape 3"/>
          <p:cNvSpPr/>
          <p:nvPr/>
        </p:nvSpPr>
        <p:spPr>
          <a:xfrm>
            <a:off x="548640" y="2103120"/>
            <a:ext cx="544068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6" name="Shape 4"/>
          <p:cNvSpPr/>
          <p:nvPr/>
        </p:nvSpPr>
        <p:spPr>
          <a:xfrm>
            <a:off x="548640" y="2103120"/>
            <a:ext cx="5440680" cy="128016"/>
          </a:xfrm>
          <a:prstGeom prst="rect">
            <a:avLst/>
          </a:prstGeom>
          <a:solidFill>
            <a:srgbClr val="0D9488"/>
          </a:solidFill>
          <a:ln/>
        </p:spPr>
        <p:txBody>
          <a:bodyPr/>
          <a:p/>
        </p:txBody>
      </p:sp>
      <p:sp>
        <p:nvSpPr>
          <p:cNvPr id="7" name="Text 5"/>
          <p:cNvSpPr/>
          <p:nvPr/>
        </p:nvSpPr>
        <p:spPr>
          <a:xfrm>
            <a:off x="914400" y="2423160"/>
            <a:ext cx="4754880" cy="54864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The unified record</a:t>
            </a:r>
            <a:endParaRPr lang="en-US" sz="2200" dirty="0"/>
          </a:p>
        </p:txBody>
      </p:sp>
      <p:sp>
        <p:nvSpPr>
          <p:cNvPr id="8" name="Text 6"/>
          <p:cNvSpPr/>
          <p:nvPr/>
        </p:nvSpPr>
        <p:spPr>
          <a:xfrm>
            <a:off x="914400" y="3108960"/>
            <a:ext cx="4754880" cy="1828800"/>
          </a:xfrm>
          <a:prstGeom prst="rect">
            <a:avLst/>
          </a:prstGeom>
          <a:noFill/>
          <a:ln/>
        </p:spPr>
        <p:txBody>
          <a:bodyPr wrap="square" lIns="0" tIns="0" rIns="0" bIns="0" rtlCol="0" anchor="ctr"/>
          <a:lstStyle/>
          <a:p>
            <a:pPr indent="0" marL="0">
              <a:lnSpc>
                <a:spcPct val="115000"/>
              </a:lnSpc>
              <a:buNone/>
            </a:pPr>
            <a:r>
              <a:rPr lang="en-US" sz="1550" dirty="0">
                <a:solidFill>
                  <a:srgbClr val="64748B"/>
                </a:solidFill>
                <a:latin typeface="Calibri" pitchFamily="34" charset="0"/>
                <a:ea typeface="Calibri" pitchFamily="34" charset="-122"/>
                <a:cs typeface="Calibri" pitchFamily="34" charset="-120"/>
              </a:rPr>
              <a:t>A tamper-evident, cross-layer causal trace of what an agent actually did — the substrate nobody else has.</a:t>
            </a:r>
            <a:endParaRPr lang="en-US" sz="1550" dirty="0"/>
          </a:p>
        </p:txBody>
      </p:sp>
      <p:sp>
        <p:nvSpPr>
          <p:cNvPr id="9" name="Shape 7"/>
          <p:cNvSpPr/>
          <p:nvPr/>
        </p:nvSpPr>
        <p:spPr>
          <a:xfrm>
            <a:off x="6172200" y="2103120"/>
            <a:ext cx="544068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0" name="Shape 8"/>
          <p:cNvSpPr/>
          <p:nvPr/>
        </p:nvSpPr>
        <p:spPr>
          <a:xfrm>
            <a:off x="6172200" y="2103120"/>
            <a:ext cx="5440680" cy="128016"/>
          </a:xfrm>
          <a:prstGeom prst="rect">
            <a:avLst/>
          </a:prstGeom>
          <a:solidFill>
            <a:srgbClr val="14B8A6"/>
          </a:solidFill>
          <a:ln/>
        </p:spPr>
        <p:txBody>
          <a:bodyPr/>
          <a:p/>
        </p:txBody>
      </p:sp>
      <p:sp>
        <p:nvSpPr>
          <p:cNvPr id="11" name="Text 9"/>
          <p:cNvSpPr/>
          <p:nvPr/>
        </p:nvSpPr>
        <p:spPr>
          <a:xfrm>
            <a:off x="6537960" y="2423160"/>
            <a:ext cx="4754880" cy="54864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The recommendation loop</a:t>
            </a:r>
            <a:endParaRPr lang="en-US" sz="2200" dirty="0"/>
          </a:p>
        </p:txBody>
      </p:sp>
      <p:sp>
        <p:nvSpPr>
          <p:cNvPr id="12" name="Text 10"/>
          <p:cNvSpPr/>
          <p:nvPr/>
        </p:nvSpPr>
        <p:spPr>
          <a:xfrm>
            <a:off x="6537960" y="3108960"/>
            <a:ext cx="4754880" cy="1828800"/>
          </a:xfrm>
          <a:prstGeom prst="rect">
            <a:avLst/>
          </a:prstGeom>
          <a:noFill/>
          <a:ln/>
        </p:spPr>
        <p:txBody>
          <a:bodyPr wrap="square" lIns="0" tIns="0" rIns="0" bIns="0" rtlCol="0" anchor="ctr"/>
          <a:lstStyle/>
          <a:p>
            <a:pPr indent="0" marL="0">
              <a:lnSpc>
                <a:spcPct val="115000"/>
              </a:lnSpc>
              <a:buNone/>
            </a:pPr>
            <a:r>
              <a:rPr lang="en-US" sz="1550" dirty="0">
                <a:solidFill>
                  <a:srgbClr val="64748B"/>
                </a:solidFill>
                <a:latin typeface="Calibri" pitchFamily="34" charset="0"/>
                <a:ea typeface="Calibri" pitchFamily="34" charset="-122"/>
                <a:cs typeface="Calibri" pitchFamily="34" charset="-120"/>
              </a:rPr>
              <a:t>Every customer interaction teaches us to suggest better policy. Trust + reconciliation quality climb with every run.</a:t>
            </a:r>
            <a:endParaRPr lang="en-US" sz="1550" dirty="0"/>
          </a:p>
        </p:txBody>
      </p:sp>
      <p:sp>
        <p:nvSpPr>
          <p:cNvPr id="13" name="Text 11"/>
          <p:cNvSpPr/>
          <p:nvPr/>
        </p:nvSpPr>
        <p:spPr>
          <a:xfrm>
            <a:off x="548640" y="5440680"/>
            <a:ext cx="11064240" cy="548640"/>
          </a:xfrm>
          <a:prstGeom prst="rect">
            <a:avLst/>
          </a:prstGeom>
          <a:noFill/>
          <a:ln/>
        </p:spPr>
        <p:txBody>
          <a:bodyPr wrap="square" lIns="0" tIns="0" rIns="0" bIns="0" rtlCol="0" anchor="ctr"/>
          <a:lstStyle/>
          <a:p>
            <a:pPr algn="ctr" indent="0" marL="0">
              <a:buNone/>
            </a:pPr>
            <a:r>
              <a:rPr lang="en-US" sz="1800" b="1" i="1" dirty="0">
                <a:solidFill>
                  <a:srgbClr val="0D9488"/>
                </a:solidFill>
                <a:latin typeface="Georgia" pitchFamily="34" charset="0"/>
                <a:ea typeface="Georgia" pitchFamily="34" charset="-122"/>
                <a:cs typeface="Georgia" pitchFamily="34" charset="-120"/>
              </a:rPr>
              <a:t>Both improve with usage. Neither is a weekend clone.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What we are NOT doing this year</a:t>
            </a:r>
            <a:endParaRPr lang="en-US" sz="3000" dirty="0"/>
          </a:p>
        </p:txBody>
      </p:sp>
      <p:sp>
        <p:nvSpPr>
          <p:cNvPr id="4" name="Shape 2"/>
          <p:cNvSpPr/>
          <p:nvPr/>
        </p:nvSpPr>
        <p:spPr>
          <a:xfrm>
            <a:off x="640080" y="1554480"/>
            <a:ext cx="365760" cy="365760"/>
          </a:xfrm>
          <a:prstGeom prst="ellipse">
            <a:avLst/>
          </a:prstGeom>
          <a:solidFill>
            <a:srgbClr val="FFE4E6"/>
          </a:solidFill>
          <a:ln/>
        </p:spPr>
        <p:txBody>
          <a:bodyPr/>
          <a:p/>
        </p:txBody>
      </p:sp>
      <p:sp>
        <p:nvSpPr>
          <p:cNvPr id="5" name="Text 3"/>
          <p:cNvSpPr/>
          <p:nvPr/>
        </p:nvSpPr>
        <p:spPr>
          <a:xfrm>
            <a:off x="640080" y="155448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234440" y="150876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Building a coding agent, an LLM, or a model</a:t>
            </a:r>
            <a:endParaRPr lang="en-US" sz="1550" dirty="0"/>
          </a:p>
        </p:txBody>
      </p:sp>
      <p:sp>
        <p:nvSpPr>
          <p:cNvPr id="7" name="Shape 5"/>
          <p:cNvSpPr/>
          <p:nvPr/>
        </p:nvSpPr>
        <p:spPr>
          <a:xfrm>
            <a:off x="640080" y="2331720"/>
            <a:ext cx="365760" cy="365760"/>
          </a:xfrm>
          <a:prstGeom prst="ellipse">
            <a:avLst/>
          </a:prstGeom>
          <a:solidFill>
            <a:srgbClr val="FFE4E6"/>
          </a:solidFill>
          <a:ln/>
        </p:spPr>
        <p:txBody>
          <a:bodyPr/>
          <a:p/>
        </p:txBody>
      </p:sp>
      <p:sp>
        <p:nvSpPr>
          <p:cNvPr id="8" name="Text 6"/>
          <p:cNvSpPr/>
          <p:nvPr/>
        </p:nvSpPr>
        <p:spPr>
          <a:xfrm>
            <a:off x="640080" y="233172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234440" y="228600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Defending against a fully attacker-controlled agent (that's EDR / malware-sandbox territory)</a:t>
            </a:r>
            <a:endParaRPr lang="en-US" sz="1550" dirty="0"/>
          </a:p>
        </p:txBody>
      </p:sp>
      <p:sp>
        <p:nvSpPr>
          <p:cNvPr id="10" name="Shape 8"/>
          <p:cNvSpPr/>
          <p:nvPr/>
        </p:nvSpPr>
        <p:spPr>
          <a:xfrm>
            <a:off x="640080" y="3108960"/>
            <a:ext cx="365760" cy="365760"/>
          </a:xfrm>
          <a:prstGeom prst="ellipse">
            <a:avLst/>
          </a:prstGeom>
          <a:solidFill>
            <a:srgbClr val="FFE4E6"/>
          </a:solidFill>
          <a:ln/>
        </p:spPr>
        <p:txBody>
          <a:bodyPr/>
          <a:p/>
        </p:txBody>
      </p:sp>
      <p:sp>
        <p:nvSpPr>
          <p:cNvPr id="11" name="Text 9"/>
          <p:cNvSpPr/>
          <p:nvPr/>
        </p:nvSpPr>
        <p:spPr>
          <a:xfrm>
            <a:off x="640080" y="310896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234440" y="306324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OS / eBPF interception first — it's the backstop, and the leverage-able tools are Linux-only</a:t>
            </a:r>
            <a:endParaRPr lang="en-US" sz="1550" dirty="0"/>
          </a:p>
        </p:txBody>
      </p:sp>
      <p:sp>
        <p:nvSpPr>
          <p:cNvPr id="13" name="Shape 11"/>
          <p:cNvSpPr/>
          <p:nvPr/>
        </p:nvSpPr>
        <p:spPr>
          <a:xfrm>
            <a:off x="640080" y="3886200"/>
            <a:ext cx="365760" cy="365760"/>
          </a:xfrm>
          <a:prstGeom prst="ellipse">
            <a:avLst/>
          </a:prstGeom>
          <a:solidFill>
            <a:srgbClr val="FFE4E6"/>
          </a:solidFill>
          <a:ln/>
        </p:spPr>
        <p:txBody>
          <a:bodyPr/>
          <a:p/>
        </p:txBody>
      </p:sp>
      <p:sp>
        <p:nvSpPr>
          <p:cNvPr id="14" name="Text 12"/>
          <p:cNvSpPr/>
          <p:nvPr/>
        </p:nvSpPr>
        <p:spPr>
          <a:xfrm>
            <a:off x="640080" y="388620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234440" y="384048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Adopting OPA first — hidden engine; start simple, swap later, invisibly</a:t>
            </a:r>
            <a:endParaRPr lang="en-US" sz="1550" dirty="0"/>
          </a:p>
        </p:txBody>
      </p:sp>
      <p:sp>
        <p:nvSpPr>
          <p:cNvPr id="16" name="Shape 14"/>
          <p:cNvSpPr/>
          <p:nvPr/>
        </p:nvSpPr>
        <p:spPr>
          <a:xfrm>
            <a:off x="640080" y="4663440"/>
            <a:ext cx="365760" cy="365760"/>
          </a:xfrm>
          <a:prstGeom prst="ellipse">
            <a:avLst/>
          </a:prstGeom>
          <a:solidFill>
            <a:srgbClr val="FFE4E6"/>
          </a:solidFill>
          <a:ln/>
        </p:spPr>
        <p:txBody>
          <a:bodyPr/>
          <a:p/>
        </p:txBody>
      </p:sp>
      <p:sp>
        <p:nvSpPr>
          <p:cNvPr id="17" name="Text 15"/>
          <p:cNvSpPr/>
          <p:nvPr/>
        </p:nvSpPr>
        <p:spPr>
          <a:xfrm>
            <a:off x="640080" y="466344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234440" y="461772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Replacing CI, code review, or the SIEM — we feed them</a:t>
            </a:r>
            <a:endParaRPr lang="en-US" sz="1550" dirty="0"/>
          </a:p>
        </p:txBody>
      </p:sp>
      <p:sp>
        <p:nvSpPr>
          <p:cNvPr id="19" name="Shape 17"/>
          <p:cNvSpPr/>
          <p:nvPr/>
        </p:nvSpPr>
        <p:spPr>
          <a:xfrm>
            <a:off x="640080" y="5440680"/>
            <a:ext cx="365760" cy="365760"/>
          </a:xfrm>
          <a:prstGeom prst="ellipse">
            <a:avLst/>
          </a:prstGeom>
          <a:solidFill>
            <a:srgbClr val="FFE4E6"/>
          </a:solidFill>
          <a:ln/>
        </p:spPr>
        <p:txBody>
          <a:bodyPr/>
          <a:p/>
        </p:txBody>
      </p:sp>
      <p:sp>
        <p:nvSpPr>
          <p:cNvPr id="20" name="Text 18"/>
          <p:cNvSpPr/>
          <p:nvPr/>
        </p:nvSpPr>
        <p:spPr>
          <a:xfrm>
            <a:off x="640080" y="5440680"/>
            <a:ext cx="365760" cy="365760"/>
          </a:xfrm>
          <a:prstGeom prst="rect">
            <a:avLst/>
          </a:prstGeom>
          <a:noFill/>
          <a:ln/>
        </p:spPr>
        <p:txBody>
          <a:bodyPr wrap="square" lIns="0" tIns="0" rIns="0" bIns="0" rtlCol="0" anchor="ctr"/>
          <a:lstStyle/>
          <a:p>
            <a:pPr algn="ctr" indent="0" marL="0">
              <a:buNone/>
            </a:pPr>
            <a:r>
              <a:rPr lang="en-US" sz="1500" b="1" dirty="0">
                <a:solidFill>
                  <a:srgbClr val="E11D48"/>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1234440" y="5394960"/>
            <a:ext cx="10332720" cy="457200"/>
          </a:xfrm>
          <a:prstGeom prst="rect">
            <a:avLst/>
          </a:prstGeom>
          <a:noFill/>
          <a:ln/>
        </p:spPr>
        <p:txBody>
          <a:bodyPr wrap="square" lIns="0" tIns="0" rIns="0" bIns="0" rtlCol="0" anchor="ctr"/>
          <a:lstStyle/>
          <a:p>
            <a:pPr indent="0" marL="0">
              <a:buNone/>
            </a:pPr>
            <a:r>
              <a:rPr lang="en-US" sz="1550" dirty="0">
                <a:solidFill>
                  <a:srgbClr val="0F172A"/>
                </a:solidFill>
                <a:latin typeface="Calibri" pitchFamily="34" charset="0"/>
                <a:ea typeface="Calibri" pitchFamily="34" charset="-122"/>
                <a:cs typeface="Calibri" pitchFamily="34" charset="-120"/>
              </a:rPr>
              <a:t>Enterprise hardening at scale (SSO / SOC2 / multi-tenant) before the loop is loved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0D9488"/>
          </a:solidFill>
          <a:ln/>
        </p:spPr>
        <p:txBody>
          <a:bodyPr/>
          <a:p/>
        </p:txBody>
      </p:sp>
      <p:sp>
        <p:nvSpPr>
          <p:cNvPr id="3" name="Text 1"/>
          <p:cNvSpPr/>
          <p:nvPr/>
        </p:nvSpPr>
        <p:spPr>
          <a:xfrm>
            <a:off x="841248" y="457200"/>
            <a:ext cx="1078992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Risks we're watching</a:t>
            </a:r>
            <a:endParaRPr lang="en-US" sz="3000" dirty="0"/>
          </a:p>
        </p:txBody>
      </p:sp>
      <p:sp>
        <p:nvSpPr>
          <p:cNvPr id="4" name="Shape 2"/>
          <p:cNvSpPr/>
          <p:nvPr/>
        </p:nvSpPr>
        <p:spPr>
          <a:xfrm>
            <a:off x="548640" y="1463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5" name="Shape 3"/>
          <p:cNvSpPr/>
          <p:nvPr/>
        </p:nvSpPr>
        <p:spPr>
          <a:xfrm>
            <a:off x="548640" y="1463040"/>
            <a:ext cx="128016" cy="2057400"/>
          </a:xfrm>
          <a:prstGeom prst="rect">
            <a:avLst/>
          </a:prstGeom>
          <a:solidFill>
            <a:srgbClr val="F59E0B"/>
          </a:solidFill>
          <a:ln/>
        </p:spPr>
        <p:txBody>
          <a:bodyPr/>
          <a:p/>
        </p:txBody>
      </p:sp>
      <p:sp>
        <p:nvSpPr>
          <p:cNvPr id="6" name="Text 4"/>
          <p:cNvSpPr/>
          <p:nvPr/>
        </p:nvSpPr>
        <p:spPr>
          <a:xfrm>
            <a:off x="914400" y="1719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Recommendation quality</a:t>
            </a:r>
            <a:endParaRPr lang="en-US" sz="1900" dirty="0"/>
          </a:p>
        </p:txBody>
      </p:sp>
      <p:sp>
        <p:nvSpPr>
          <p:cNvPr id="7" name="Text 5"/>
          <p:cNvSpPr/>
          <p:nvPr/>
        </p:nvSpPr>
        <p:spPr>
          <a:xfrm>
            <a:off x="914400" y="2286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Policy-by-demonstration removes “Rego is hard,” but bad AI suggestions erode trust fast. The thing to nail in step 3.</a:t>
            </a:r>
            <a:endParaRPr lang="en-US" sz="1450" dirty="0"/>
          </a:p>
        </p:txBody>
      </p:sp>
      <p:sp>
        <p:nvSpPr>
          <p:cNvPr id="8" name="Shape 6"/>
          <p:cNvSpPr/>
          <p:nvPr/>
        </p:nvSpPr>
        <p:spPr>
          <a:xfrm>
            <a:off x="6172200" y="1463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9" name="Shape 7"/>
          <p:cNvSpPr/>
          <p:nvPr/>
        </p:nvSpPr>
        <p:spPr>
          <a:xfrm>
            <a:off x="6172200" y="1463040"/>
            <a:ext cx="128016" cy="2057400"/>
          </a:xfrm>
          <a:prstGeom prst="rect">
            <a:avLst/>
          </a:prstGeom>
          <a:solidFill>
            <a:srgbClr val="E11D48"/>
          </a:solidFill>
          <a:ln/>
        </p:spPr>
        <p:txBody>
          <a:bodyPr/>
          <a:p/>
        </p:txBody>
      </p:sp>
      <p:sp>
        <p:nvSpPr>
          <p:cNvPr id="10" name="Text 8"/>
          <p:cNvSpPr/>
          <p:nvPr/>
        </p:nvSpPr>
        <p:spPr>
          <a:xfrm>
            <a:off x="6537960" y="1719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We're critical-path infra</a:t>
            </a:r>
            <a:endParaRPr lang="en-US" sz="1900" dirty="0"/>
          </a:p>
        </p:txBody>
      </p:sp>
      <p:sp>
        <p:nvSpPr>
          <p:cNvPr id="11" name="Text 9"/>
          <p:cNvSpPr/>
          <p:nvPr/>
        </p:nvSpPr>
        <p:spPr>
          <a:xfrm>
            <a:off x="6537960" y="2286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The moment we can block, we can break a workflow. Reliability &amp; fail-modes matter far more now.</a:t>
            </a:r>
            <a:endParaRPr lang="en-US" sz="1450" dirty="0"/>
          </a:p>
        </p:txBody>
      </p:sp>
      <p:sp>
        <p:nvSpPr>
          <p:cNvPr id="12" name="Shape 10"/>
          <p:cNvSpPr/>
          <p:nvPr/>
        </p:nvSpPr>
        <p:spPr>
          <a:xfrm>
            <a:off x="548640" y="3749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3" name="Shape 11"/>
          <p:cNvSpPr/>
          <p:nvPr/>
        </p:nvSpPr>
        <p:spPr>
          <a:xfrm>
            <a:off x="548640" y="3749040"/>
            <a:ext cx="128016" cy="2057400"/>
          </a:xfrm>
          <a:prstGeom prst="rect">
            <a:avLst/>
          </a:prstGeom>
          <a:solidFill>
            <a:srgbClr val="0D9488"/>
          </a:solidFill>
          <a:ln/>
        </p:spPr>
        <p:txBody>
          <a:bodyPr/>
          <a:p/>
        </p:txBody>
      </p:sp>
      <p:sp>
        <p:nvSpPr>
          <p:cNvPr id="14" name="Text 12"/>
          <p:cNvSpPr/>
          <p:nvPr/>
        </p:nvSpPr>
        <p:spPr>
          <a:xfrm>
            <a:off x="914400" y="4005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Completeness is a deployment property</a:t>
            </a:r>
            <a:endParaRPr lang="en-US" sz="1900" dirty="0"/>
          </a:p>
        </p:txBody>
      </p:sp>
      <p:sp>
        <p:nvSpPr>
          <p:cNvPr id="15" name="Text 13"/>
          <p:cNvSpPr/>
          <p:nvPr/>
        </p:nvSpPr>
        <p:spPr>
          <a:xfrm>
            <a:off x="914400" y="4572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Our guarantee holds only if there's no un-brokered path. We must detect &amp; report weak posture — never pretend.</a:t>
            </a:r>
            <a:endParaRPr lang="en-US" sz="1450" dirty="0"/>
          </a:p>
        </p:txBody>
      </p:sp>
      <p:sp>
        <p:nvSpPr>
          <p:cNvPr id="16" name="Shape 14"/>
          <p:cNvSpPr/>
          <p:nvPr/>
        </p:nvSpPr>
        <p:spPr>
          <a:xfrm>
            <a:off x="6172200" y="3749040"/>
            <a:ext cx="544068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88900" dist="38100" dir="8100000">
              <a:srgbClr val="0F172A">
                <a:alpha val="12000"/>
              </a:srgbClr>
            </a:outerShdw>
          </a:effectLst>
        </p:spPr>
        <p:txBody>
          <a:bodyPr/>
          <a:p/>
        </p:txBody>
      </p:sp>
      <p:sp>
        <p:nvSpPr>
          <p:cNvPr id="17" name="Shape 15"/>
          <p:cNvSpPr/>
          <p:nvPr/>
        </p:nvSpPr>
        <p:spPr>
          <a:xfrm>
            <a:off x="6172200" y="3749040"/>
            <a:ext cx="128016" cy="2057400"/>
          </a:xfrm>
          <a:prstGeom prst="rect">
            <a:avLst/>
          </a:prstGeom>
          <a:solidFill>
            <a:srgbClr val="14B8A6"/>
          </a:solidFill>
          <a:ln/>
        </p:spPr>
        <p:txBody>
          <a:bodyPr/>
          <a:p/>
        </p:txBody>
      </p:sp>
      <p:sp>
        <p:nvSpPr>
          <p:cNvPr id="18" name="Text 16"/>
          <p:cNvSpPr/>
          <p:nvPr/>
        </p:nvSpPr>
        <p:spPr>
          <a:xfrm>
            <a:off x="6537960" y="4005072"/>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Georgia" pitchFamily="34" charset="0"/>
                <a:ea typeface="Georgia" pitchFamily="34" charset="-122"/>
                <a:cs typeface="Georgia" pitchFamily="34" charset="-120"/>
              </a:rPr>
              <a:t>Scope re-bloat</a:t>
            </a:r>
            <a:endParaRPr lang="en-US" sz="1900" dirty="0"/>
          </a:p>
        </p:txBody>
      </p:sp>
      <p:sp>
        <p:nvSpPr>
          <p:cNvPr id="19" name="Text 17"/>
          <p:cNvSpPr/>
          <p:nvPr/>
        </p:nvSpPr>
        <p:spPr>
          <a:xfrm>
            <a:off x="6537960" y="4572000"/>
            <a:ext cx="4846320" cy="1097280"/>
          </a:xfrm>
          <a:prstGeom prst="rect">
            <a:avLst/>
          </a:prstGeom>
          <a:noFill/>
          <a:ln/>
        </p:spPr>
        <p:txBody>
          <a:bodyPr wrap="square" lIns="0" tIns="0" rIns="0" bIns="0" rtlCol="0" anchor="ctr"/>
          <a:lstStyle/>
          <a:p>
            <a:pPr indent="0" marL="0">
              <a:lnSpc>
                <a:spcPct val="112000"/>
              </a:lnSpc>
              <a:buNone/>
            </a:pPr>
            <a:r>
              <a:rPr lang="en-US" sz="1450" dirty="0">
                <a:solidFill>
                  <a:srgbClr val="64748B"/>
                </a:solidFill>
                <a:latin typeface="Calibri" pitchFamily="34" charset="0"/>
                <a:ea typeface="Calibri" pitchFamily="34" charset="-122"/>
                <a:cs typeface="Calibri" pitchFamily="34" charset="-120"/>
              </a:rPr>
              <a:t>The same pull that bloated the project before. Spine stays small; collectors stay pluggable; non-goals stay non-goals.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229600" y="-822960"/>
            <a:ext cx="4206240" cy="4206240"/>
          </a:xfrm>
          <a:prstGeom prst="ellipse">
            <a:avLst/>
          </a:prstGeom>
          <a:ln w="15875">
            <a:solidFill>
              <a:srgbClr val="0D9488">
                <a:alpha val="25000"/>
              </a:srgbClr>
            </a:solidFill>
            <a:prstDash val="solid"/>
          </a:ln>
        </p:spPr>
        <p:txBody>
          <a:bodyPr/>
          <a:p/>
        </p:txBody>
      </p:sp>
      <p:sp>
        <p:nvSpPr>
          <p:cNvPr id="3" name="Shape 1"/>
          <p:cNvSpPr/>
          <p:nvPr/>
        </p:nvSpPr>
        <p:spPr>
          <a:xfrm>
            <a:off x="8869680" y="-182880"/>
            <a:ext cx="2926080" cy="2926080"/>
          </a:xfrm>
          <a:prstGeom prst="ellipse">
            <a:avLst/>
          </a:prstGeom>
          <a:ln w="15875">
            <a:solidFill>
              <a:srgbClr val="0D9488">
                <a:alpha val="50000"/>
              </a:srgbClr>
            </a:solidFill>
            <a:prstDash val="solid"/>
          </a:ln>
        </p:spPr>
        <p:txBody>
          <a:bodyPr/>
          <a:p/>
        </p:txBody>
      </p:sp>
      <p:sp>
        <p:nvSpPr>
          <p:cNvPr id="4" name="Shape 2"/>
          <p:cNvSpPr/>
          <p:nvPr/>
        </p:nvSpPr>
        <p:spPr>
          <a:xfrm>
            <a:off x="9464040" y="411480"/>
            <a:ext cx="1737360" cy="1737360"/>
          </a:xfrm>
          <a:prstGeom prst="ellipse">
            <a:avLst/>
          </a:prstGeom>
          <a:ln w="15875">
            <a:solidFill>
              <a:srgbClr val="0D9488">
                <a:alpha val="75000"/>
              </a:srgbClr>
            </a:solidFill>
            <a:prstDash val="solid"/>
          </a:ln>
        </p:spPr>
        <p:txBody>
          <a:bodyPr/>
          <a:p/>
        </p:txBody>
      </p:sp>
      <p:sp>
        <p:nvSpPr>
          <p:cNvPr id="5" name="Text 3"/>
          <p:cNvSpPr/>
          <p:nvPr/>
        </p:nvSpPr>
        <p:spPr>
          <a:xfrm>
            <a:off x="640080" y="2286000"/>
            <a:ext cx="7315200" cy="274320"/>
          </a:xfrm>
          <a:prstGeom prst="rect">
            <a:avLst/>
          </a:prstGeom>
          <a:noFill/>
          <a:ln/>
        </p:spPr>
        <p:txBody>
          <a:bodyPr wrap="square" lIns="0" tIns="0" rIns="0" bIns="0" rtlCol="0" anchor="ctr"/>
          <a:lstStyle/>
          <a:p>
            <a:pPr indent="0" marL="0">
              <a:buNone/>
            </a:pPr>
            <a:r>
              <a:rPr lang="en-US" sz="1200" b="1" spc="300" kern="0" dirty="0">
                <a:solidFill>
                  <a:srgbClr val="5EEAD4"/>
                </a:solidFill>
                <a:latin typeface="Calibri" pitchFamily="34" charset="0"/>
                <a:ea typeface="Calibri" pitchFamily="34" charset="-122"/>
                <a:cs typeface="Calibri" pitchFamily="34" charset="-120"/>
              </a:rPr>
              <a:t>THE ONE-SENTENCE VERSION</a:t>
            </a:r>
            <a:endParaRPr lang="en-US" sz="1200" dirty="0"/>
          </a:p>
        </p:txBody>
      </p:sp>
      <p:sp>
        <p:nvSpPr>
          <p:cNvPr id="6" name="Text 4"/>
          <p:cNvSpPr/>
          <p:nvPr/>
        </p:nvSpPr>
        <p:spPr>
          <a:xfrm>
            <a:off x="640080" y="2788920"/>
            <a:ext cx="10607040" cy="2743200"/>
          </a:xfrm>
          <a:prstGeom prst="rect">
            <a:avLst/>
          </a:prstGeom>
          <a:noFill/>
          <a:ln/>
        </p:spPr>
        <p:txBody>
          <a:bodyPr wrap="square" lIns="0" tIns="0" rIns="0" bIns="0" rtlCol="0" anchor="ctr"/>
          <a:lstStyle/>
          <a:p>
            <a:pPr indent="0" marL="0">
              <a:lnSpc>
                <a:spcPct val="112000"/>
              </a:lnSpc>
              <a:buNone/>
            </a:pPr>
            <a:r>
              <a:rPr lang="en-US" sz="2700" b="1" dirty="0">
                <a:solidFill>
                  <a:srgbClr val="FFFFFF"/>
                </a:solidFill>
                <a:latin typeface="Georgia" pitchFamily="34" charset="0"/>
                <a:ea typeface="Georgia" pitchFamily="34" charset="-122"/>
                <a:cs typeface="Georgia" pitchFamily="34" charset="-120"/>
              </a:rPr>
              <a:t>We make agents safe to put to work by recording everything they do at one controllable chokepoint, and </a:t>
            </a:r>
            <a:pPr indent="0" marL="0">
              <a:lnSpc>
                <a:spcPct val="112000"/>
              </a:lnSpc>
              <a:buNone/>
            </a:pPr>
            <a:r>
              <a:rPr lang="en-US" sz="2700" b="1" dirty="0">
                <a:solidFill>
                  <a:srgbClr val="5EEAD4"/>
                </a:solidFill>
                <a:latin typeface="Georgia" pitchFamily="34" charset="0"/>
                <a:ea typeface="Georgia" pitchFamily="34" charset="-122"/>
                <a:cs typeface="Georgia" pitchFamily="34" charset="-120"/>
              </a:rPr>
              <a:t>teaching the guardrails from real behavior</a:t>
            </a:r>
            <a:pPr indent="0" marL="0">
              <a:lnSpc>
                <a:spcPct val="112000"/>
              </a:lnSpc>
              <a:buNone/>
            </a:pPr>
            <a:r>
              <a:rPr lang="en-US" sz="2700" b="1" dirty="0">
                <a:solidFill>
                  <a:srgbClr val="FFFFFF"/>
                </a:solidFill>
                <a:latin typeface="Georgia" pitchFamily="34" charset="0"/>
                <a:ea typeface="Georgia" pitchFamily="34" charset="-122"/>
                <a:cs typeface="Georgia" pitchFamily="34" charset="-120"/>
              </a:rPr>
              <a:t> instead of asking anyone to write them — so a human can always see, understand, and stop what an agent is about to do.</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AgentProof — North Star</dc:title>
  <dc:subject>PptxGenJS Presentation</dc:subject>
  <dc:creator>Tushar</dc:creator>
  <cp:lastModifiedBy>Tushar</cp:lastModifiedBy>
  <cp:revision>1</cp:revision>
  <dcterms:created xsi:type="dcterms:W3CDTF">2026-06-14T21:41:06Z</dcterms:created>
  <dcterms:modified xsi:type="dcterms:W3CDTF">2026-06-14T21:41:06Z</dcterms:modified>
</cp:coreProperties>
</file>